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3" r:id="rId2"/>
    <p:sldId id="270" r:id="rId3"/>
    <p:sldId id="25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4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BD076-CB60-4964-81DF-30CAAF77745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A9095-74FB-4274-AD47-60C17655DA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342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6334ff4a-ca45-4394-b632-53e3e8128f2f.source.3.zh-Hans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51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B629C-E202-340F-EE1C-962CDEB52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6E3D5E-75D6-ADEB-1964-B58C13039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0DD935-84ED-3562-8668-789F99B5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AF3CBF-7555-FE7E-BAC8-8DEF8A66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105C4C-6382-7F05-34FB-9794D58D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92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00728-55B3-FA49-E8DE-FB3D58A6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522E53-AD8C-CAAC-58C1-5DA0781F6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959E37-4C9F-D9B3-7C29-93BA92F8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AC577-AE46-EE84-2D12-D2F0B75B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7C5CEC-DED0-F673-2ACF-FE989426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FB663-3AD0-0FB2-E64E-4191C19D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C419FD-53BD-F028-A30F-8D2100D6A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5A9E9F-65D2-2D6E-1005-F869DA9D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A5EBCB-6911-42E9-F9F0-E5A80ED7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F4DA2E-EDBA-BE72-50FD-3403C562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86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C8228-61F1-5E88-D718-76746245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BD998-FB07-1531-7B03-8F794F978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BBA32E-49CC-B832-C9DF-DFFF6C7C9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98BEF8-6A06-C87A-FE15-3B4E655D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8F14A8-FDF0-2AB9-0A2C-5C3DDEE1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0EC5F5-B0A2-893C-59C8-096CFBD9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3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AC9CE-C9F9-C1ED-6A0C-0B55975F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B63685-9BEA-B532-C37F-32DB61BD1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A3CCDA-AE40-C128-8BD6-8A1EFF6CE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130C47-009E-90D4-D5E9-9815AF35E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089F19-11AD-04B6-168B-AF10121AA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6A2FE8-3B34-F456-72D9-76295697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B050BA-CEFE-5DF5-A8C5-8755ECC4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7B8524-A8A9-6111-E992-0B7947C9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72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DC5A0-9BB2-23E1-3D36-8C58A9985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20AE76-A392-44E4-1558-DE6D1802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1387DE-8CCC-0D10-076B-B170DC6B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719BC4-9A85-5C9A-FECD-158C524B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64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AB5630-D642-4914-CA86-921924FD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1ADB4E-82F7-C325-1E41-B03458C1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E764EA-D57D-D836-D3F2-4277A9D0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25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F4064-1016-05F7-847E-871AF95C5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E3458A-C633-B750-5E42-231058017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52079A-F089-32FA-16BD-01D64B9DB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5EE6DD-4782-5611-57E6-C978064F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83BDB1-BFFF-E901-D7CA-E21F2C81E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953356-F5F7-CFFD-EC0C-86BFCC57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19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707F9-6EA5-0E7C-D4C2-0CC166867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2B62B3-75EB-196C-3177-97F942930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82CB55-313D-D71B-F2DD-DFA0E0073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782ED0-77E9-809F-ECBD-B515026D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E4B890-AF29-FD6C-AD4E-F232D057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BC9F05-97A8-17A5-1496-3FA77A08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74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25DBF-C47B-2844-E484-455C60B2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FE0766-3B96-1FD1-F431-BD5888E52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7C64F-1F85-6FEC-4991-ED280A87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0BC6EF-2187-55AB-9A87-29969C73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2B8B9-A4D7-DB70-DAB3-12BD5F61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26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DCDEC4-08E1-8BAD-1A20-4379106CF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9A7FB3-6364-8053-7547-6C4438A08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BB45D0-30EC-34F7-EC32-7D835E72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DB1276-3ED1-5D79-04A3-76B2EFC3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A6B0A9-F9C0-F9D9-7694-DE986561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102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858940F-5A8D-4F02-BA57-D90CFD3647DB}"/>
              </a:ext>
            </a:extLst>
          </p:cNvPr>
          <p:cNvSpPr>
            <a:spLocks/>
          </p:cNvSpPr>
          <p:nvPr userDrawn="1"/>
        </p:nvSpPr>
        <p:spPr bwMode="auto">
          <a:xfrm>
            <a:off x="1" y="3"/>
            <a:ext cx="7948451" cy="6857999"/>
          </a:xfrm>
          <a:custGeom>
            <a:avLst/>
            <a:gdLst>
              <a:gd name="connsiteX0" fmla="*/ 0 w 7948451"/>
              <a:gd name="connsiteY0" fmla="*/ 0 h 6849889"/>
              <a:gd name="connsiteX1" fmla="*/ 2991367 w 7948451"/>
              <a:gd name="connsiteY1" fmla="*/ 0 h 6849889"/>
              <a:gd name="connsiteX2" fmla="*/ 7948451 w 7948451"/>
              <a:gd name="connsiteY2" fmla="*/ 5977100 h 6849889"/>
              <a:gd name="connsiteX3" fmla="*/ 7287430 w 7948451"/>
              <a:gd name="connsiteY3" fmla="*/ 6849889 h 6849889"/>
              <a:gd name="connsiteX4" fmla="*/ 0 w 7948451"/>
              <a:gd name="connsiteY4" fmla="*/ 6849889 h 6849889"/>
              <a:gd name="connsiteX5" fmla="*/ 0 w 7948451"/>
              <a:gd name="connsiteY5" fmla="*/ 5733363 h 684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8451" h="6849889">
                <a:moveTo>
                  <a:pt x="0" y="0"/>
                </a:moveTo>
                <a:lnTo>
                  <a:pt x="2991367" y="0"/>
                </a:lnTo>
                <a:lnTo>
                  <a:pt x="7948451" y="5977100"/>
                </a:lnTo>
                <a:lnTo>
                  <a:pt x="7287430" y="6849889"/>
                </a:lnTo>
                <a:lnTo>
                  <a:pt x="0" y="6849889"/>
                </a:lnTo>
                <a:lnTo>
                  <a:pt x="0" y="5733363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 sz="1800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916172FA-72A9-4BFF-A675-4B73993A51FC}"/>
              </a:ext>
            </a:extLst>
          </p:cNvPr>
          <p:cNvSpPr>
            <a:spLocks/>
          </p:cNvSpPr>
          <p:nvPr userDrawn="1"/>
        </p:nvSpPr>
        <p:spPr bwMode="auto">
          <a:xfrm>
            <a:off x="7270773" y="5985213"/>
            <a:ext cx="1440723" cy="872789"/>
          </a:xfrm>
          <a:custGeom>
            <a:avLst/>
            <a:gdLst>
              <a:gd name="connsiteX0" fmla="*/ 682585 w 1440722"/>
              <a:gd name="connsiteY0" fmla="*/ 0 h 872789"/>
              <a:gd name="connsiteX1" fmla="*/ 1440722 w 1440722"/>
              <a:gd name="connsiteY1" fmla="*/ 872789 h 872789"/>
              <a:gd name="connsiteX2" fmla="*/ 0 w 1440722"/>
              <a:gd name="connsiteY2" fmla="*/ 872789 h 87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0722" h="872789">
                <a:moveTo>
                  <a:pt x="682585" y="0"/>
                </a:moveTo>
                <a:lnTo>
                  <a:pt x="1440722" y="872789"/>
                </a:lnTo>
                <a:lnTo>
                  <a:pt x="0" y="872789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 sz="1800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69641FF-3AFB-4C32-B795-562387FDA651}"/>
              </a:ext>
            </a:extLst>
          </p:cNvPr>
          <p:cNvSpPr>
            <a:spLocks/>
          </p:cNvSpPr>
          <p:nvPr userDrawn="1"/>
        </p:nvSpPr>
        <p:spPr bwMode="auto">
          <a:xfrm>
            <a:off x="2989552" y="0"/>
            <a:ext cx="1011912" cy="670498"/>
          </a:xfrm>
          <a:custGeom>
            <a:avLst/>
            <a:gdLst>
              <a:gd name="connsiteX0" fmla="*/ 0 w 1011912"/>
              <a:gd name="connsiteY0" fmla="*/ 0 h 670498"/>
              <a:gd name="connsiteX1" fmla="*/ 1011912 w 1011912"/>
              <a:gd name="connsiteY1" fmla="*/ 0 h 670498"/>
              <a:gd name="connsiteX2" fmla="*/ 538913 w 1011912"/>
              <a:gd name="connsiteY2" fmla="*/ 670498 h 67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1912" h="670498">
                <a:moveTo>
                  <a:pt x="0" y="0"/>
                </a:moveTo>
                <a:lnTo>
                  <a:pt x="1011912" y="0"/>
                </a:lnTo>
                <a:lnTo>
                  <a:pt x="538913" y="670498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 sz="1800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7C18F34-868E-4C4F-B4C1-6A4CCDBB104F}"/>
              </a:ext>
            </a:extLst>
          </p:cNvPr>
          <p:cNvSpPr>
            <a:spLocks/>
          </p:cNvSpPr>
          <p:nvPr userDrawn="1"/>
        </p:nvSpPr>
        <p:spPr bwMode="auto">
          <a:xfrm>
            <a:off x="-4905" y="2"/>
            <a:ext cx="4044349" cy="5746449"/>
          </a:xfrm>
          <a:custGeom>
            <a:avLst/>
            <a:gdLst>
              <a:gd name="connsiteX0" fmla="*/ 3994152 w 4044349"/>
              <a:gd name="connsiteY0" fmla="*/ 0 h 5746449"/>
              <a:gd name="connsiteX1" fmla="*/ 4044349 w 4044349"/>
              <a:gd name="connsiteY1" fmla="*/ 0 h 5746449"/>
              <a:gd name="connsiteX2" fmla="*/ 31081 w 4044349"/>
              <a:gd name="connsiteY2" fmla="*/ 5746449 h 5746449"/>
              <a:gd name="connsiteX3" fmla="*/ 0 w 4044349"/>
              <a:gd name="connsiteY3" fmla="*/ 5723548 h 574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349" h="5746449">
                <a:moveTo>
                  <a:pt x="3994152" y="0"/>
                </a:moveTo>
                <a:lnTo>
                  <a:pt x="4044349" y="0"/>
                </a:lnTo>
                <a:lnTo>
                  <a:pt x="31081" y="5746449"/>
                </a:lnTo>
                <a:lnTo>
                  <a:pt x="0" y="57235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 sz="1800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D51B83A-482D-42F9-90A1-21F585440AD3}"/>
              </a:ext>
            </a:extLst>
          </p:cNvPr>
          <p:cNvSpPr>
            <a:spLocks/>
          </p:cNvSpPr>
          <p:nvPr userDrawn="1"/>
        </p:nvSpPr>
        <p:spPr bwMode="auto">
          <a:xfrm>
            <a:off x="2967830" y="0"/>
            <a:ext cx="5747855" cy="6849888"/>
          </a:xfrm>
          <a:custGeom>
            <a:avLst/>
            <a:gdLst>
              <a:gd name="connsiteX0" fmla="*/ 0 w 5747854"/>
              <a:gd name="connsiteY0" fmla="*/ 0 h 6849888"/>
              <a:gd name="connsiteX1" fmla="*/ 52779 w 5747854"/>
              <a:gd name="connsiteY1" fmla="*/ 0 h 6849888"/>
              <a:gd name="connsiteX2" fmla="*/ 5747854 w 5747854"/>
              <a:gd name="connsiteY2" fmla="*/ 6849888 h 6849888"/>
              <a:gd name="connsiteX3" fmla="*/ 5697704 w 5747854"/>
              <a:gd name="connsiteY3" fmla="*/ 6849888 h 6849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7854" h="6849888">
                <a:moveTo>
                  <a:pt x="0" y="0"/>
                </a:moveTo>
                <a:lnTo>
                  <a:pt x="52779" y="0"/>
                </a:lnTo>
                <a:lnTo>
                  <a:pt x="5747854" y="6849888"/>
                </a:lnTo>
                <a:lnTo>
                  <a:pt x="5697704" y="68498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 sz="1800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CE89CE-C4FE-4400-A1AA-E47497DE3C20}"/>
              </a:ext>
            </a:extLst>
          </p:cNvPr>
          <p:cNvSpPr>
            <a:spLocks/>
          </p:cNvSpPr>
          <p:nvPr userDrawn="1"/>
        </p:nvSpPr>
        <p:spPr bwMode="auto">
          <a:xfrm>
            <a:off x="7262913" y="5959108"/>
            <a:ext cx="711713" cy="890783"/>
          </a:xfrm>
          <a:custGeom>
            <a:avLst/>
            <a:gdLst>
              <a:gd name="connsiteX0" fmla="*/ 672454 w 711713"/>
              <a:gd name="connsiteY0" fmla="*/ 0 h 890783"/>
              <a:gd name="connsiteX1" fmla="*/ 711713 w 711713"/>
              <a:gd name="connsiteY1" fmla="*/ 17994 h 890783"/>
              <a:gd name="connsiteX2" fmla="*/ 49893 w 711713"/>
              <a:gd name="connsiteY2" fmla="*/ 890783 h 890783"/>
              <a:gd name="connsiteX3" fmla="*/ 0 w 711713"/>
              <a:gd name="connsiteY3" fmla="*/ 890783 h 890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713" h="890783">
                <a:moveTo>
                  <a:pt x="672454" y="0"/>
                </a:moveTo>
                <a:lnTo>
                  <a:pt x="711713" y="17994"/>
                </a:lnTo>
                <a:lnTo>
                  <a:pt x="49893" y="890783"/>
                </a:lnTo>
                <a:lnTo>
                  <a:pt x="0" y="8907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 sz="1800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4739699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4740816" y="3553281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accent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4906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hasCustomPrompt="1"/>
          </p:nvPr>
        </p:nvSpPr>
        <p:spPr>
          <a:xfrm>
            <a:off x="669925" y="2689270"/>
            <a:ext cx="10850563" cy="65578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结束语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5" y="3627511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5" y="3943145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zh-CN" altLang="en-US" dirty="0"/>
              <a:t>时间日期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7645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675698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676814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9449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63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5FEFC8-EA6A-9E86-3436-96C9FE7BC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504BE4-A41C-C3EA-017E-4AFD37849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08DB46-EAC3-0EAE-BCAD-A69C3D40A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A26F3-8D4C-4762-B062-8BBF479D278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84ECE-A295-79D4-0B9A-BFB555D1B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9C8975-8C9B-9D1F-5129-F84ED1B1D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FD2A46-3212-4002-A653-F21EEB44E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25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9.svg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8.svg"/><Relationship Id="rId4" Type="http://schemas.openxmlformats.org/officeDocument/2006/relationships/tags" Target="../tags/tag4.xml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217410" y="2348366"/>
            <a:ext cx="90961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6000" dirty="0">
                <a:solidFill>
                  <a:schemeClr val="bg1"/>
                </a:solidFill>
              </a:rPr>
              <a:t>How One Software Update Crashed the World</a:t>
            </a:r>
            <a:endParaRPr lang="zh-CN" altLang="en-US" sz="6000" b="1" dirty="0">
              <a:solidFill>
                <a:schemeClr val="bg1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 flipV="1">
            <a:off x="7701497" y="3148786"/>
            <a:ext cx="772161" cy="338152"/>
            <a:chOff x="10276081" y="904240"/>
            <a:chExt cx="1316479" cy="477520"/>
          </a:xfrm>
          <a:solidFill>
            <a:srgbClr val="6CCEE5"/>
          </a:solidFill>
        </p:grpSpPr>
        <p:sp>
          <p:nvSpPr>
            <p:cNvPr id="17" name="直角三角形 16"/>
            <p:cNvSpPr/>
            <p:nvPr/>
          </p:nvSpPr>
          <p:spPr>
            <a:xfrm rot="10800000">
              <a:off x="10276081" y="904240"/>
              <a:ext cx="556055" cy="23876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 rot="10800000">
              <a:off x="10480451" y="904240"/>
              <a:ext cx="1112109" cy="4775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+mn-ea"/>
                  <a:sym typeface="+mn-lt"/>
                </a:rPr>
                <a:t>SIMON</a:t>
              </a:r>
            </a:p>
            <a:p>
              <a:pPr algn="ctr"/>
              <a:r>
                <a:rPr lang="en-US" altLang="zh-CN" sz="1000" b="1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+mn-ea"/>
                  <a:sym typeface="+mn-lt"/>
                </a:rPr>
                <a:t>PPT</a:t>
              </a:r>
              <a:endParaRPr lang="zh-CN" altLang="en-US" sz="10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FF58D8D-1F58-EEE7-00E5-E0243A91D8E1}"/>
              </a:ext>
            </a:extLst>
          </p:cNvPr>
          <p:cNvSpPr txBox="1"/>
          <p:nvPr/>
        </p:nvSpPr>
        <p:spPr>
          <a:xfrm>
            <a:off x="1217410" y="4624184"/>
            <a:ext cx="69301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sz="3600" dirty="0">
                <a:highlight>
                  <a:srgbClr val="C0C0C0"/>
                </a:highlight>
              </a:rPr>
              <a:t>The CrowdStrike Global IT Outage</a:t>
            </a:r>
          </a:p>
          <a:p>
            <a:r>
              <a:rPr lang="en-CA" altLang="zh-CN" sz="3600" dirty="0">
                <a:highlight>
                  <a:srgbClr val="C0C0C0"/>
                </a:highlight>
              </a:rPr>
              <a:t>July 19, 2024</a:t>
            </a:r>
            <a:endParaRPr lang="zh-CN" altLang="en-US" sz="3600" dirty="0">
              <a:highlight>
                <a:srgbClr val="C0C0C0"/>
              </a:highligh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A87FEC-A521-0F82-2B32-5D18B2ED563B}"/>
              </a:ext>
            </a:extLst>
          </p:cNvPr>
          <p:cNvSpPr txBox="1"/>
          <p:nvPr/>
        </p:nvSpPr>
        <p:spPr>
          <a:xfrm>
            <a:off x="10265228" y="5698224"/>
            <a:ext cx="15279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dirty="0">
                <a:solidFill>
                  <a:schemeClr val="bg1"/>
                </a:solidFill>
              </a:rPr>
              <a:t>Presented by:</a:t>
            </a:r>
          </a:p>
          <a:p>
            <a:r>
              <a:rPr lang="en-CA" altLang="zh-CN" dirty="0">
                <a:solidFill>
                  <a:schemeClr val="bg1"/>
                </a:solidFill>
              </a:rPr>
              <a:t>Howard</a:t>
            </a:r>
          </a:p>
          <a:p>
            <a:r>
              <a:rPr lang="en-CA" altLang="zh-CN" dirty="0" err="1">
                <a:solidFill>
                  <a:schemeClr val="bg1"/>
                </a:solidFill>
              </a:rPr>
              <a:t>Aayou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A85CE9-8B41-94A2-617A-2C04E4141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235" y="0"/>
            <a:ext cx="2867765" cy="238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19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B9304C-2E63-4A3B-B7C3-24AB744B7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920" y="123372"/>
            <a:ext cx="5843588" cy="71600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FC224D4-597B-E961-1409-FEEADFA72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0651"/>
            <a:ext cx="6914697" cy="3457349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DE1FF55-4F3D-4276-80C1-227F514D754D}"/>
              </a:ext>
            </a:extLst>
          </p:cNvPr>
          <p:cNvCxnSpPr>
            <a:cxnSpLocks/>
          </p:cNvCxnSpPr>
          <p:nvPr/>
        </p:nvCxnSpPr>
        <p:spPr>
          <a:xfrm>
            <a:off x="1409702" y="2839074"/>
            <a:ext cx="5613400" cy="0"/>
          </a:xfrm>
          <a:prstGeom prst="line">
            <a:avLst/>
          </a:prstGeom>
          <a:ln w="38100" cap="rnd">
            <a:gradFill>
              <a:gsLst>
                <a:gs pos="18000">
                  <a:srgbClr val="69BBF2"/>
                </a:gs>
                <a:gs pos="0">
                  <a:srgbClr val="BFE4FC"/>
                </a:gs>
                <a:gs pos="39000">
                  <a:srgbClr val="0535D1"/>
                </a:gs>
                <a:gs pos="78000">
                  <a:srgbClr val="9D2ED9">
                    <a:alpha val="0"/>
                  </a:srgbClr>
                </a:gs>
                <a:gs pos="62000">
                  <a:srgbClr val="9D2ED9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1A839E3-DDCD-4350-A41D-545B97D7DA13}"/>
              </a:ext>
            </a:extLst>
          </p:cNvPr>
          <p:cNvSpPr/>
          <p:nvPr/>
        </p:nvSpPr>
        <p:spPr>
          <a:xfrm>
            <a:off x="7854726" y="2148929"/>
            <a:ext cx="421942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altLang="zh-CN" sz="4400" dirty="0">
                <a:latin typeface="等线 Light" panose="02010600030101010101" pitchFamily="2" charset="-122"/>
                <a:ea typeface="等线 Light" panose="02010600030101010101" pitchFamily="2" charset="-122"/>
              </a:rPr>
              <a:t>G</a:t>
            </a:r>
            <a:r>
              <a:rPr lang="en-US" altLang="zh-CN" sz="4400" dirty="0">
                <a:latin typeface="等线 Light" panose="02010600030101010101" pitchFamily="2" charset="-122"/>
                <a:ea typeface="等线 Light" panose="02010600030101010101" pitchFamily="2" charset="-122"/>
              </a:rPr>
              <a:t>LOBAL IMPACT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508A2C-E9BD-8FD7-2E2B-8ADE4BA8A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4" y="2533650"/>
            <a:ext cx="5419185" cy="895350"/>
          </a:xfrm>
        </p:spPr>
        <p:txBody>
          <a:bodyPr>
            <a:normAutofit fontScale="90000"/>
          </a:bodyPr>
          <a:lstStyle/>
          <a:p>
            <a:r>
              <a:rPr lang="en-CA" altLang="zh-CN" dirty="0"/>
              <a:t>• CrowdStrike released a software update</a:t>
            </a:r>
            <a:br>
              <a:rPr lang="en-CA" altLang="zh-CN" dirty="0"/>
            </a:br>
            <a:br>
              <a:rPr lang="en-CA" altLang="zh-CN" dirty="0"/>
            </a:br>
            <a:r>
              <a:rPr lang="en-CA" altLang="zh-CN" dirty="0"/>
              <a:t>• The update contained an error</a:t>
            </a:r>
            <a:br>
              <a:rPr lang="en-CA" altLang="zh-CN" dirty="0"/>
            </a:br>
            <a:br>
              <a:rPr lang="en-CA" altLang="zh-CN" dirty="0"/>
            </a:br>
            <a:r>
              <a:rPr lang="en-CA" altLang="zh-CN" dirty="0"/>
              <a:t>• Millions of Windows computers crashed</a:t>
            </a:r>
            <a:br>
              <a:rPr lang="en-CA" altLang="zh-CN" dirty="0"/>
            </a:br>
            <a:br>
              <a:rPr lang="en-CA" altLang="zh-CN" dirty="0"/>
            </a:br>
            <a:r>
              <a:rPr lang="en-CA" altLang="zh-CN" dirty="0"/>
              <a:t>• Many systems showed the Blue Screen of Death (BSOD)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218030-9E20-23A0-6246-976EDBE46CAB}"/>
              </a:ext>
            </a:extLst>
          </p:cNvPr>
          <p:cNvSpPr txBox="1"/>
          <p:nvPr/>
        </p:nvSpPr>
        <p:spPr>
          <a:xfrm>
            <a:off x="7854726" y="3429000"/>
            <a:ext cx="44823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dirty="0"/>
              <a:t>• CrowdStrike released a software update</a:t>
            </a:r>
          </a:p>
          <a:p>
            <a:endParaRPr lang="en-CA" altLang="zh-CN" dirty="0"/>
          </a:p>
          <a:p>
            <a:r>
              <a:rPr lang="en-CA" altLang="zh-CN" dirty="0"/>
              <a:t>• The update contained an error</a:t>
            </a:r>
          </a:p>
          <a:p>
            <a:endParaRPr lang="en-CA" altLang="zh-CN" dirty="0"/>
          </a:p>
          <a:p>
            <a:r>
              <a:rPr lang="en-CA" altLang="zh-CN" dirty="0"/>
              <a:t>• Millions of Windows computers crashed</a:t>
            </a:r>
          </a:p>
          <a:p>
            <a:endParaRPr lang="en-CA" altLang="zh-CN" dirty="0"/>
          </a:p>
          <a:p>
            <a:r>
              <a:rPr lang="en-CA" altLang="zh-CN" dirty="0"/>
              <a:t>• Many systems showed the Blue Screen of </a:t>
            </a:r>
          </a:p>
          <a:p>
            <a:r>
              <a:rPr lang="en-CA" altLang="zh-CN" dirty="0"/>
              <a:t>Death (BSOD)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97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图形 107">
            <a:extLst>
              <a:ext uri="{FF2B5EF4-FFF2-40B4-BE49-F238E27FC236}">
                <a16:creationId xmlns:a16="http://schemas.microsoft.com/office/drawing/2014/main" id="{6D7C780B-B3BF-B9D9-286D-A7F84ACACC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9504" y="156408"/>
            <a:ext cx="2061534" cy="2052648"/>
          </a:xfrm>
          <a:prstGeom prst="rect">
            <a:avLst/>
          </a:prstGeom>
        </p:spPr>
      </p:pic>
      <p:pic>
        <p:nvPicPr>
          <p:cNvPr id="106" name="图形 105">
            <a:extLst>
              <a:ext uri="{FF2B5EF4-FFF2-40B4-BE49-F238E27FC236}">
                <a16:creationId xmlns:a16="http://schemas.microsoft.com/office/drawing/2014/main" id="{F0961863-063C-76DC-9EE6-B125EE0D708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37743" y="447314"/>
            <a:ext cx="2031326" cy="203132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BD26753-568A-2086-70C5-BE8350D575A0}"/>
              </a:ext>
            </a:extLst>
          </p:cNvPr>
          <p:cNvSpPr txBox="1"/>
          <p:nvPr/>
        </p:nvSpPr>
        <p:spPr>
          <a:xfrm>
            <a:off x="2073300" y="2086263"/>
            <a:ext cx="163698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dirty="0"/>
              <a:t>Code Change</a:t>
            </a:r>
          </a:p>
          <a:p>
            <a:r>
              <a:rPr lang="en-CA" altLang="zh-CN" dirty="0"/>
              <a:t>      ↓</a:t>
            </a:r>
          </a:p>
          <a:p>
            <a:r>
              <a:rPr lang="en-CA" altLang="zh-CN" dirty="0"/>
              <a:t>Faulty Update</a:t>
            </a:r>
          </a:p>
          <a:p>
            <a:r>
              <a:rPr lang="en-CA" altLang="zh-CN" dirty="0"/>
              <a:t>      ↓</a:t>
            </a:r>
          </a:p>
          <a:p>
            <a:r>
              <a:rPr lang="en-CA" altLang="zh-CN" dirty="0"/>
              <a:t>Global Release</a:t>
            </a:r>
          </a:p>
          <a:p>
            <a:r>
              <a:rPr lang="en-CA" altLang="zh-CN" dirty="0"/>
              <a:t>      ↓</a:t>
            </a:r>
          </a:p>
          <a:p>
            <a:r>
              <a:rPr lang="en-CA" altLang="zh-CN" dirty="0"/>
              <a:t>System Crash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DC5015-7493-55FF-7CC4-4BB6109574DF}"/>
              </a:ext>
            </a:extLst>
          </p:cNvPr>
          <p:cNvSpPr txBox="1"/>
          <p:nvPr/>
        </p:nvSpPr>
        <p:spPr>
          <a:xfrm>
            <a:off x="8484678" y="1763599"/>
            <a:ext cx="16417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dirty="0"/>
              <a:t>Code Change</a:t>
            </a:r>
          </a:p>
          <a:p>
            <a:r>
              <a:rPr lang="en-CA" altLang="zh-CN" dirty="0"/>
              <a:t>      ↓</a:t>
            </a:r>
          </a:p>
          <a:p>
            <a:r>
              <a:rPr lang="en-CA" altLang="zh-CN" dirty="0"/>
              <a:t>Testing</a:t>
            </a:r>
          </a:p>
          <a:p>
            <a:r>
              <a:rPr lang="en-CA" altLang="zh-CN" dirty="0"/>
              <a:t>      ↓</a:t>
            </a:r>
          </a:p>
          <a:p>
            <a:r>
              <a:rPr lang="en-CA" altLang="zh-CN" dirty="0"/>
              <a:t>Code Review</a:t>
            </a:r>
          </a:p>
          <a:p>
            <a:r>
              <a:rPr lang="en-CA" altLang="zh-CN" dirty="0"/>
              <a:t>      ↓</a:t>
            </a:r>
          </a:p>
          <a:p>
            <a:r>
              <a:rPr lang="en-CA" altLang="zh-CN" dirty="0"/>
              <a:t>Staged Rollout</a:t>
            </a:r>
          </a:p>
          <a:p>
            <a:r>
              <a:rPr lang="en-CA" altLang="zh-CN" dirty="0"/>
              <a:t>      ↓</a:t>
            </a:r>
          </a:p>
          <a:p>
            <a:r>
              <a:rPr lang="en-CA" altLang="zh-CN" dirty="0"/>
              <a:t>Safe Release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AE882F-75B4-5893-0142-0EC3B2125B71}"/>
              </a:ext>
            </a:extLst>
          </p:cNvPr>
          <p:cNvSpPr txBox="1"/>
          <p:nvPr/>
        </p:nvSpPr>
        <p:spPr>
          <a:xfrm>
            <a:off x="1973152" y="1531073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dirty="0"/>
              <a:t>What </a:t>
            </a:r>
            <a:r>
              <a:rPr lang="en-CA" altLang="zh-CN" dirty="0" err="1"/>
              <a:t>happended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85AF23-59F6-80CA-086B-A21C87030C8A}"/>
              </a:ext>
            </a:extLst>
          </p:cNvPr>
          <p:cNvSpPr txBox="1"/>
          <p:nvPr/>
        </p:nvSpPr>
        <p:spPr>
          <a:xfrm>
            <a:off x="7866611" y="1366801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dirty="0"/>
              <a:t>What should happen</a:t>
            </a:r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CDA812F-357D-DE78-466D-E06B5D1420B5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5464" y="4296604"/>
            <a:ext cx="5494085" cy="2674099"/>
            <a:chOff x="3362103" y="2095563"/>
            <a:chExt cx="5494085" cy="2674099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1122B6F-13A8-4CF1-D5CE-9B78D829EEA6}"/>
                </a:ext>
              </a:extLst>
            </p:cNvPr>
            <p:cNvGrpSpPr/>
            <p:nvPr/>
          </p:nvGrpSpPr>
          <p:grpSpPr>
            <a:xfrm>
              <a:off x="3362103" y="2095563"/>
              <a:ext cx="5494085" cy="2674099"/>
              <a:chOff x="3362103" y="2095563"/>
              <a:chExt cx="5494085" cy="2674099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71BCE5FB-A1A0-328F-D444-D6681ED98171}"/>
                  </a:ext>
                </a:extLst>
              </p:cNvPr>
              <p:cNvGrpSpPr/>
              <p:nvPr/>
            </p:nvGrpSpPr>
            <p:grpSpPr>
              <a:xfrm>
                <a:off x="3362103" y="2095563"/>
                <a:ext cx="5379910" cy="2569464"/>
                <a:chOff x="3405187" y="2143125"/>
                <a:chExt cx="5379910" cy="2569464"/>
              </a:xfrm>
            </p:grpSpPr>
            <p:sp>
              <p:nvSpPr>
                <p:cNvPr id="50" name="图形 6">
                  <a:extLst>
                    <a:ext uri="{FF2B5EF4-FFF2-40B4-BE49-F238E27FC236}">
                      <a16:creationId xmlns:a16="http://schemas.microsoft.com/office/drawing/2014/main" id="{E03FA435-D942-7BDD-6DDB-F7D364B44B98}"/>
                    </a:ext>
                  </a:extLst>
                </p:cNvPr>
                <p:cNvSpPr/>
                <p:nvPr/>
              </p:nvSpPr>
              <p:spPr>
                <a:xfrm>
                  <a:off x="3405187" y="2143125"/>
                  <a:ext cx="5379910" cy="2569464"/>
                </a:xfrm>
                <a:custGeom>
                  <a:avLst/>
                  <a:gdLst>
                    <a:gd name="connsiteX0" fmla="*/ 5112163 w 5379910"/>
                    <a:gd name="connsiteY0" fmla="*/ 0 h 2569464"/>
                    <a:gd name="connsiteX1" fmla="*/ 5379911 w 5379910"/>
                    <a:gd name="connsiteY1" fmla="*/ 267748 h 2569464"/>
                    <a:gd name="connsiteX2" fmla="*/ 5379911 w 5379910"/>
                    <a:gd name="connsiteY2" fmla="*/ 2301716 h 2569464"/>
                    <a:gd name="connsiteX3" fmla="*/ 5112163 w 5379910"/>
                    <a:gd name="connsiteY3" fmla="*/ 2569464 h 2569464"/>
                    <a:gd name="connsiteX4" fmla="*/ 267748 w 5379910"/>
                    <a:gd name="connsiteY4" fmla="*/ 2569464 h 2569464"/>
                    <a:gd name="connsiteX5" fmla="*/ 0 w 5379910"/>
                    <a:gd name="connsiteY5" fmla="*/ 2301716 h 2569464"/>
                    <a:gd name="connsiteX6" fmla="*/ 0 w 5379910"/>
                    <a:gd name="connsiteY6" fmla="*/ 267748 h 2569464"/>
                    <a:gd name="connsiteX7" fmla="*/ 267748 w 5379910"/>
                    <a:gd name="connsiteY7" fmla="*/ 0 h 2569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379910" h="2569464">
                      <a:moveTo>
                        <a:pt x="5112163" y="0"/>
                      </a:moveTo>
                      <a:cubicBezTo>
                        <a:pt x="5260036" y="0"/>
                        <a:pt x="5379911" y="119875"/>
                        <a:pt x="5379911" y="267748"/>
                      </a:cubicBezTo>
                      <a:lnTo>
                        <a:pt x="5379911" y="2301716"/>
                      </a:lnTo>
                      <a:cubicBezTo>
                        <a:pt x="5379911" y="2449589"/>
                        <a:pt x="5260036" y="2569464"/>
                        <a:pt x="5112163" y="2569464"/>
                      </a:cubicBezTo>
                      <a:lnTo>
                        <a:pt x="267748" y="2569464"/>
                      </a:lnTo>
                      <a:cubicBezTo>
                        <a:pt x="119875" y="2569464"/>
                        <a:pt x="0" y="2449589"/>
                        <a:pt x="0" y="2301716"/>
                      </a:cubicBezTo>
                      <a:lnTo>
                        <a:pt x="0" y="267748"/>
                      </a:lnTo>
                      <a:cubicBezTo>
                        <a:pt x="0" y="119875"/>
                        <a:pt x="119875" y="0"/>
                        <a:pt x="267748" y="0"/>
                      </a:cubicBezTo>
                      <a:close/>
                    </a:path>
                  </a:pathLst>
                </a:custGeom>
                <a:solidFill>
                  <a:srgbClr val="9ADFB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" name="图形 8">
                  <a:extLst>
                    <a:ext uri="{FF2B5EF4-FFF2-40B4-BE49-F238E27FC236}">
                      <a16:creationId xmlns:a16="http://schemas.microsoft.com/office/drawing/2014/main" id="{AAB32CC3-5A58-009B-591D-689F957EA1FF}"/>
                    </a:ext>
                  </a:extLst>
                </p:cNvPr>
                <p:cNvSpPr/>
                <p:nvPr/>
              </p:nvSpPr>
              <p:spPr>
                <a:xfrm>
                  <a:off x="3605212" y="2352674"/>
                  <a:ext cx="4980622" cy="2155793"/>
                </a:xfrm>
                <a:custGeom>
                  <a:avLst/>
                  <a:gdLst>
                    <a:gd name="connsiteX0" fmla="*/ 4866323 w 4980622"/>
                    <a:gd name="connsiteY0" fmla="*/ 0 h 2155793"/>
                    <a:gd name="connsiteX1" fmla="*/ 4980623 w 4980622"/>
                    <a:gd name="connsiteY1" fmla="*/ 114300 h 2155793"/>
                    <a:gd name="connsiteX2" fmla="*/ 4980623 w 4980622"/>
                    <a:gd name="connsiteY2" fmla="*/ 2041493 h 2155793"/>
                    <a:gd name="connsiteX3" fmla="*/ 4866323 w 4980622"/>
                    <a:gd name="connsiteY3" fmla="*/ 2155793 h 2155793"/>
                    <a:gd name="connsiteX4" fmla="*/ 114300 w 4980622"/>
                    <a:gd name="connsiteY4" fmla="*/ 2155793 h 2155793"/>
                    <a:gd name="connsiteX5" fmla="*/ 0 w 4980622"/>
                    <a:gd name="connsiteY5" fmla="*/ 2041493 h 2155793"/>
                    <a:gd name="connsiteX6" fmla="*/ 0 w 4980622"/>
                    <a:gd name="connsiteY6" fmla="*/ 114300 h 2155793"/>
                    <a:gd name="connsiteX7" fmla="*/ 114300 w 4980622"/>
                    <a:gd name="connsiteY7" fmla="*/ 0 h 21557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980622" h="2155793">
                      <a:moveTo>
                        <a:pt x="4866323" y="0"/>
                      </a:moveTo>
                      <a:cubicBezTo>
                        <a:pt x="4929449" y="0"/>
                        <a:pt x="4980623" y="51174"/>
                        <a:pt x="4980623" y="114300"/>
                      </a:cubicBezTo>
                      <a:lnTo>
                        <a:pt x="4980623" y="2041493"/>
                      </a:lnTo>
                      <a:cubicBezTo>
                        <a:pt x="4980623" y="2104619"/>
                        <a:pt x="4929449" y="2155793"/>
                        <a:pt x="4866323" y="2155793"/>
                      </a:cubicBezTo>
                      <a:lnTo>
                        <a:pt x="114300" y="2155793"/>
                      </a:lnTo>
                      <a:cubicBezTo>
                        <a:pt x="51174" y="2155793"/>
                        <a:pt x="0" y="2104619"/>
                        <a:pt x="0" y="2041493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EDFBD7"/>
                </a:solidFill>
                <a:ln w="28575" cap="flat">
                  <a:solidFill>
                    <a:srgbClr val="608842"/>
                  </a:solidFill>
                  <a:prstDash val="sysDash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4550E930-D8BA-55EB-2103-7F50ED5A4ADB}"/>
                  </a:ext>
                </a:extLst>
              </p:cNvPr>
              <p:cNvGrpSpPr/>
              <p:nvPr/>
            </p:nvGrpSpPr>
            <p:grpSpPr>
              <a:xfrm>
                <a:off x="3498244" y="4060484"/>
                <a:ext cx="449827" cy="490015"/>
                <a:chOff x="3525801" y="3960276"/>
                <a:chExt cx="449827" cy="490015"/>
              </a:xfrm>
            </p:grpSpPr>
            <p:pic>
              <p:nvPicPr>
                <p:cNvPr id="39" name="图形 38">
                  <a:extLst>
                    <a:ext uri="{FF2B5EF4-FFF2-40B4-BE49-F238E27FC236}">
                      <a16:creationId xmlns:a16="http://schemas.microsoft.com/office/drawing/2014/main" id="{6F3A3C39-3961-94A6-C7E7-972629228E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85103" y="4355041"/>
                  <a:ext cx="390525" cy="95250"/>
                </a:xfrm>
                <a:prstGeom prst="rect">
                  <a:avLst/>
                </a:prstGeom>
              </p:spPr>
            </p:pic>
            <p:grpSp>
              <p:nvGrpSpPr>
                <p:cNvPr id="41" name="组合 40">
                  <a:extLst>
                    <a:ext uri="{FF2B5EF4-FFF2-40B4-BE49-F238E27FC236}">
                      <a16:creationId xmlns:a16="http://schemas.microsoft.com/office/drawing/2014/main" id="{3E6C4CF5-78D5-3218-0D57-EBB06BD6ECD4}"/>
                    </a:ext>
                  </a:extLst>
                </p:cNvPr>
                <p:cNvGrpSpPr/>
                <p:nvPr/>
              </p:nvGrpSpPr>
              <p:grpSpPr>
                <a:xfrm>
                  <a:off x="3525801" y="3960276"/>
                  <a:ext cx="361950" cy="444739"/>
                  <a:chOff x="5915025" y="2963123"/>
                  <a:chExt cx="361950" cy="444739"/>
                </a:xfrm>
              </p:grpSpPr>
              <p:pic>
                <p:nvPicPr>
                  <p:cNvPr id="43" name="图形 42">
                    <a:extLst>
                      <a:ext uri="{FF2B5EF4-FFF2-40B4-BE49-F238E27FC236}">
                        <a16:creationId xmlns:a16="http://schemas.microsoft.com/office/drawing/2014/main" id="{8C5F440E-F785-3A2D-F469-CBC4A24F9A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53137" y="3293562"/>
                    <a:ext cx="85725" cy="114300"/>
                  </a:xfrm>
                  <a:prstGeom prst="rect">
                    <a:avLst/>
                  </a:prstGeom>
                </p:spPr>
              </p:pic>
              <p:pic>
                <p:nvPicPr>
                  <p:cNvPr id="44" name="图形 43">
                    <a:extLst>
                      <a:ext uri="{FF2B5EF4-FFF2-40B4-BE49-F238E27FC236}">
                        <a16:creationId xmlns:a16="http://schemas.microsoft.com/office/drawing/2014/main" id="{78C958B9-AC85-4024-F72F-6ECCDA3C81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15025" y="2963123"/>
                    <a:ext cx="361950" cy="352425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31BD41EC-DBBD-80E6-B25A-B86B9BE72960}"/>
                  </a:ext>
                </a:extLst>
              </p:cNvPr>
              <p:cNvGrpSpPr/>
              <p:nvPr/>
            </p:nvGrpSpPr>
            <p:grpSpPr>
              <a:xfrm>
                <a:off x="7198838" y="3749648"/>
                <a:ext cx="1657350" cy="1020014"/>
                <a:chOff x="7198838" y="3749648"/>
                <a:chExt cx="1657350" cy="1020014"/>
              </a:xfrm>
            </p:grpSpPr>
            <p:pic>
              <p:nvPicPr>
                <p:cNvPr id="18" name="图形 17">
                  <a:extLst>
                    <a:ext uri="{FF2B5EF4-FFF2-40B4-BE49-F238E27FC236}">
                      <a16:creationId xmlns:a16="http://schemas.microsoft.com/office/drawing/2014/main" id="{464875EB-6A97-A23E-1255-C3B370444C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98838" y="4302937"/>
                  <a:ext cx="1657350" cy="466725"/>
                </a:xfrm>
                <a:prstGeom prst="rect">
                  <a:avLst/>
                </a:prstGeom>
              </p:spPr>
            </p:pic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92C8EBED-8E1F-1A17-5A71-EC76D99B16FD}"/>
                    </a:ext>
                  </a:extLst>
                </p:cNvPr>
                <p:cNvGrpSpPr/>
                <p:nvPr/>
              </p:nvGrpSpPr>
              <p:grpSpPr>
                <a:xfrm>
                  <a:off x="8242535" y="3749648"/>
                  <a:ext cx="585825" cy="715852"/>
                  <a:chOff x="5915025" y="2963123"/>
                  <a:chExt cx="361950" cy="444739"/>
                </a:xfrm>
              </p:grpSpPr>
              <p:pic>
                <p:nvPicPr>
                  <p:cNvPr id="36" name="图形 35">
                    <a:extLst>
                      <a:ext uri="{FF2B5EF4-FFF2-40B4-BE49-F238E27FC236}">
                        <a16:creationId xmlns:a16="http://schemas.microsoft.com/office/drawing/2014/main" id="{76A52B55-1A1F-5DB6-3557-2A4082A452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53137" y="3293562"/>
                    <a:ext cx="85725" cy="114300"/>
                  </a:xfrm>
                  <a:prstGeom prst="rect">
                    <a:avLst/>
                  </a:prstGeom>
                </p:spPr>
              </p:pic>
              <p:pic>
                <p:nvPicPr>
                  <p:cNvPr id="38" name="图形 37">
                    <a:extLst>
                      <a:ext uri="{FF2B5EF4-FFF2-40B4-BE49-F238E27FC236}">
                        <a16:creationId xmlns:a16="http://schemas.microsoft.com/office/drawing/2014/main" id="{F6FF8E3A-1735-BC53-2CBA-2EDC42F15E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15025" y="2963123"/>
                    <a:ext cx="361950" cy="35242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1" name="组合 20">
                  <a:extLst>
                    <a:ext uri="{FF2B5EF4-FFF2-40B4-BE49-F238E27FC236}">
                      <a16:creationId xmlns:a16="http://schemas.microsoft.com/office/drawing/2014/main" id="{DDEE5FD6-BB6F-D43D-1C5C-7E159C4FD5F6}"/>
                    </a:ext>
                  </a:extLst>
                </p:cNvPr>
                <p:cNvGrpSpPr/>
                <p:nvPr/>
              </p:nvGrpSpPr>
              <p:grpSpPr>
                <a:xfrm>
                  <a:off x="7441812" y="3994057"/>
                  <a:ext cx="355957" cy="228706"/>
                  <a:chOff x="5644460" y="2812278"/>
                  <a:chExt cx="355957" cy="228706"/>
                </a:xfrm>
              </p:grpSpPr>
              <p:sp>
                <p:nvSpPr>
                  <p:cNvPr id="34" name="任意多边形: 形状 33">
                    <a:extLst>
                      <a:ext uri="{FF2B5EF4-FFF2-40B4-BE49-F238E27FC236}">
                        <a16:creationId xmlns:a16="http://schemas.microsoft.com/office/drawing/2014/main" id="{51F021A5-3894-AF02-6D02-768361F0C345}"/>
                      </a:ext>
                    </a:extLst>
                  </p:cNvPr>
                  <p:cNvSpPr/>
                  <p:nvPr/>
                </p:nvSpPr>
                <p:spPr>
                  <a:xfrm>
                    <a:off x="5700145" y="2818750"/>
                    <a:ext cx="99821" cy="99822"/>
                  </a:xfrm>
                  <a:custGeom>
                    <a:avLst/>
                    <a:gdLst>
                      <a:gd name="connsiteX0" fmla="*/ 99822 w 99821"/>
                      <a:gd name="connsiteY0" fmla="*/ 49911 h 99822"/>
                      <a:gd name="connsiteX1" fmla="*/ 49911 w 99821"/>
                      <a:gd name="connsiteY1" fmla="*/ 99822 h 99822"/>
                      <a:gd name="connsiteX2" fmla="*/ 0 w 99821"/>
                      <a:gd name="connsiteY2" fmla="*/ 49911 h 99822"/>
                      <a:gd name="connsiteX3" fmla="*/ 49911 w 99821"/>
                      <a:gd name="connsiteY3" fmla="*/ 0 h 99822"/>
                      <a:gd name="connsiteX4" fmla="*/ 99822 w 99821"/>
                      <a:gd name="connsiteY4" fmla="*/ 49911 h 998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9821" h="99822">
                        <a:moveTo>
                          <a:pt x="99822" y="49911"/>
                        </a:moveTo>
                        <a:cubicBezTo>
                          <a:pt x="99822" y="77476"/>
                          <a:pt x="77476" y="99822"/>
                          <a:pt x="49911" y="99822"/>
                        </a:cubicBezTo>
                        <a:cubicBezTo>
                          <a:pt x="22346" y="99822"/>
                          <a:pt x="0" y="77476"/>
                          <a:pt x="0" y="49911"/>
                        </a:cubicBezTo>
                        <a:cubicBezTo>
                          <a:pt x="0" y="22346"/>
                          <a:pt x="22346" y="0"/>
                          <a:pt x="49911" y="0"/>
                        </a:cubicBezTo>
                        <a:cubicBezTo>
                          <a:pt x="77476" y="0"/>
                          <a:pt x="99822" y="22346"/>
                          <a:pt x="99822" y="49911"/>
                        </a:cubicBezTo>
                        <a:close/>
                      </a:path>
                    </a:pathLst>
                  </a:custGeom>
                  <a:solidFill>
                    <a:srgbClr val="D3D3D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任意多边形: 形状 34">
                    <a:extLst>
                      <a:ext uri="{FF2B5EF4-FFF2-40B4-BE49-F238E27FC236}">
                        <a16:creationId xmlns:a16="http://schemas.microsoft.com/office/drawing/2014/main" id="{18B00FD3-EDE8-B10D-2D9D-94CA317DEDBB}"/>
                      </a:ext>
                    </a:extLst>
                  </p:cNvPr>
                  <p:cNvSpPr/>
                  <p:nvPr/>
                </p:nvSpPr>
                <p:spPr>
                  <a:xfrm>
                    <a:off x="5644460" y="2812278"/>
                    <a:ext cx="355957" cy="228706"/>
                  </a:xfrm>
                  <a:custGeom>
                    <a:avLst/>
                    <a:gdLst>
                      <a:gd name="connsiteX0" fmla="*/ 145355 w 355957"/>
                      <a:gd name="connsiteY0" fmla="*/ 54392 h 228706"/>
                      <a:gd name="connsiteX1" fmla="*/ 110683 w 355957"/>
                      <a:gd name="connsiteY1" fmla="*/ 69918 h 228706"/>
                      <a:gd name="connsiteX2" fmla="*/ 77632 w 355957"/>
                      <a:gd name="connsiteY2" fmla="*/ 64393 h 228706"/>
                      <a:gd name="connsiteX3" fmla="*/ 3 w 355957"/>
                      <a:gd name="connsiteY3" fmla="*/ 148594 h 228706"/>
                      <a:gd name="connsiteX4" fmla="*/ 97158 w 355957"/>
                      <a:gd name="connsiteY4" fmla="*/ 228699 h 228706"/>
                      <a:gd name="connsiteX5" fmla="*/ 249653 w 355957"/>
                      <a:gd name="connsiteY5" fmla="*/ 227366 h 228706"/>
                      <a:gd name="connsiteX6" fmla="*/ 355952 w 355957"/>
                      <a:gd name="connsiteY6" fmla="*/ 107637 h 228706"/>
                      <a:gd name="connsiteX7" fmla="*/ 239747 w 355957"/>
                      <a:gd name="connsiteY7" fmla="*/ 4 h 228706"/>
                      <a:gd name="connsiteX8" fmla="*/ 145355 w 355957"/>
                      <a:gd name="connsiteY8" fmla="*/ 54392 h 2287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55957" h="228706">
                        <a:moveTo>
                          <a:pt x="145355" y="54392"/>
                        </a:moveTo>
                        <a:cubicBezTo>
                          <a:pt x="133067" y="74299"/>
                          <a:pt x="125257" y="75347"/>
                          <a:pt x="110683" y="69918"/>
                        </a:cubicBezTo>
                        <a:cubicBezTo>
                          <a:pt x="102778" y="68013"/>
                          <a:pt x="95634" y="64203"/>
                          <a:pt x="77632" y="64393"/>
                        </a:cubicBezTo>
                        <a:cubicBezTo>
                          <a:pt x="35626" y="64774"/>
                          <a:pt x="-378" y="100588"/>
                          <a:pt x="3" y="148594"/>
                        </a:cubicBezTo>
                        <a:cubicBezTo>
                          <a:pt x="479" y="196600"/>
                          <a:pt x="33245" y="229271"/>
                          <a:pt x="97158" y="228699"/>
                        </a:cubicBezTo>
                        <a:lnTo>
                          <a:pt x="249653" y="227366"/>
                        </a:lnTo>
                        <a:cubicBezTo>
                          <a:pt x="312328" y="226794"/>
                          <a:pt x="356524" y="174216"/>
                          <a:pt x="355952" y="107637"/>
                        </a:cubicBezTo>
                        <a:cubicBezTo>
                          <a:pt x="355381" y="41057"/>
                          <a:pt x="293849" y="-472"/>
                          <a:pt x="239747" y="4"/>
                        </a:cubicBezTo>
                        <a:cubicBezTo>
                          <a:pt x="185741" y="480"/>
                          <a:pt x="157547" y="34485"/>
                          <a:pt x="145355" y="54392"/>
                        </a:cubicBezTo>
                        <a:close/>
                      </a:path>
                    </a:pathLst>
                  </a:custGeom>
                  <a:solidFill>
                    <a:srgbClr val="C5E1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3" name="组合 22">
                  <a:extLst>
                    <a:ext uri="{FF2B5EF4-FFF2-40B4-BE49-F238E27FC236}">
                      <a16:creationId xmlns:a16="http://schemas.microsoft.com/office/drawing/2014/main" id="{67AE529E-A512-AB22-2531-2F34833CD268}"/>
                    </a:ext>
                  </a:extLst>
                </p:cNvPr>
                <p:cNvGrpSpPr/>
                <p:nvPr/>
              </p:nvGrpSpPr>
              <p:grpSpPr>
                <a:xfrm>
                  <a:off x="7711302" y="4133588"/>
                  <a:ext cx="803299" cy="475642"/>
                  <a:chOff x="5676796" y="3181350"/>
                  <a:chExt cx="841819" cy="498450"/>
                </a:xfrm>
              </p:grpSpPr>
              <p:sp>
                <p:nvSpPr>
                  <p:cNvPr id="24" name="任意多边形: 形状 23">
                    <a:extLst>
                      <a:ext uri="{FF2B5EF4-FFF2-40B4-BE49-F238E27FC236}">
                        <a16:creationId xmlns:a16="http://schemas.microsoft.com/office/drawing/2014/main" id="{E50CBE63-A126-F2DF-32A5-D549135E6E02}"/>
                      </a:ext>
                    </a:extLst>
                  </p:cNvPr>
                  <p:cNvSpPr/>
                  <p:nvPr/>
                </p:nvSpPr>
                <p:spPr>
                  <a:xfrm>
                    <a:off x="5676891" y="3181350"/>
                    <a:ext cx="841724" cy="498450"/>
                  </a:xfrm>
                  <a:custGeom>
                    <a:avLst/>
                    <a:gdLst>
                      <a:gd name="connsiteX0" fmla="*/ 6485 w 841724"/>
                      <a:gd name="connsiteY0" fmla="*/ 439293 h 498450"/>
                      <a:gd name="connsiteX1" fmla="*/ 39156 w 841724"/>
                      <a:gd name="connsiteY1" fmla="*/ 498443 h 498450"/>
                      <a:gd name="connsiteX2" fmla="*/ 810205 w 841724"/>
                      <a:gd name="connsiteY2" fmla="*/ 491585 h 498450"/>
                      <a:gd name="connsiteX3" fmla="*/ 836113 w 841724"/>
                      <a:gd name="connsiteY3" fmla="*/ 435197 h 498450"/>
                      <a:gd name="connsiteX4" fmla="*/ 660377 w 841724"/>
                      <a:gd name="connsiteY4" fmla="*/ 0 h 498450"/>
                      <a:gd name="connsiteX5" fmla="*/ 192318 w 841724"/>
                      <a:gd name="connsiteY5" fmla="*/ 4191 h 498450"/>
                      <a:gd name="connsiteX6" fmla="*/ 161933 w 841724"/>
                      <a:gd name="connsiteY6" fmla="*/ 35624 h 498450"/>
                      <a:gd name="connsiteX7" fmla="*/ 6485 w 841724"/>
                      <a:gd name="connsiteY7" fmla="*/ 439293 h 4984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41724" h="498450">
                        <a:moveTo>
                          <a:pt x="6485" y="439293"/>
                        </a:moveTo>
                        <a:cubicBezTo>
                          <a:pt x="-13327" y="490633"/>
                          <a:pt x="16487" y="498729"/>
                          <a:pt x="39156" y="498443"/>
                        </a:cubicBezTo>
                        <a:lnTo>
                          <a:pt x="810205" y="491585"/>
                        </a:lnTo>
                        <a:cubicBezTo>
                          <a:pt x="837827" y="491300"/>
                          <a:pt x="849638" y="468821"/>
                          <a:pt x="836113" y="435197"/>
                        </a:cubicBezTo>
                        <a:cubicBezTo>
                          <a:pt x="828874" y="417100"/>
                          <a:pt x="713812" y="137446"/>
                          <a:pt x="660377" y="0"/>
                        </a:cubicBezTo>
                        <a:lnTo>
                          <a:pt x="192318" y="4191"/>
                        </a:lnTo>
                        <a:cubicBezTo>
                          <a:pt x="173649" y="4382"/>
                          <a:pt x="169268" y="17336"/>
                          <a:pt x="161933" y="35624"/>
                        </a:cubicBezTo>
                        <a:cubicBezTo>
                          <a:pt x="154504" y="53912"/>
                          <a:pt x="26202" y="387858"/>
                          <a:pt x="6485" y="439293"/>
                        </a:cubicBezTo>
                        <a:close/>
                      </a:path>
                    </a:pathLst>
                  </a:custGeom>
                  <a:solidFill>
                    <a:srgbClr val="F9C23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任意多边形: 形状 24">
                    <a:extLst>
                      <a:ext uri="{FF2B5EF4-FFF2-40B4-BE49-F238E27FC236}">
                        <a16:creationId xmlns:a16="http://schemas.microsoft.com/office/drawing/2014/main" id="{6DCFA8F6-9BFC-510E-1FD5-8D641A57CADF}"/>
                      </a:ext>
                    </a:extLst>
                  </p:cNvPr>
                  <p:cNvSpPr/>
                  <p:nvPr/>
                </p:nvSpPr>
                <p:spPr>
                  <a:xfrm>
                    <a:off x="5880830" y="3302412"/>
                    <a:ext cx="198882" cy="375856"/>
                  </a:xfrm>
                  <a:custGeom>
                    <a:avLst/>
                    <a:gdLst>
                      <a:gd name="connsiteX0" fmla="*/ 123158 w 198882"/>
                      <a:gd name="connsiteY0" fmla="*/ 297942 h 375856"/>
                      <a:gd name="connsiteX1" fmla="*/ 0 w 198882"/>
                      <a:gd name="connsiteY1" fmla="*/ 0 h 375856"/>
                      <a:gd name="connsiteX2" fmla="*/ 3334 w 198882"/>
                      <a:gd name="connsiteY2" fmla="*/ 375856 h 375856"/>
                      <a:gd name="connsiteX3" fmla="*/ 198882 w 198882"/>
                      <a:gd name="connsiteY3" fmla="*/ 374142 h 375856"/>
                      <a:gd name="connsiteX4" fmla="*/ 123158 w 198882"/>
                      <a:gd name="connsiteY4" fmla="*/ 297847 h 3758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8882" h="375856">
                        <a:moveTo>
                          <a:pt x="123158" y="297942"/>
                        </a:moveTo>
                        <a:cubicBezTo>
                          <a:pt x="105537" y="256223"/>
                          <a:pt x="33719" y="82010"/>
                          <a:pt x="0" y="0"/>
                        </a:cubicBezTo>
                        <a:lnTo>
                          <a:pt x="3334" y="375856"/>
                        </a:lnTo>
                        <a:lnTo>
                          <a:pt x="198882" y="374142"/>
                        </a:lnTo>
                        <a:cubicBezTo>
                          <a:pt x="156401" y="374523"/>
                          <a:pt x="145256" y="349949"/>
                          <a:pt x="123158" y="297847"/>
                        </a:cubicBezTo>
                        <a:close/>
                      </a:path>
                    </a:pathLst>
                  </a:custGeom>
                  <a:solidFill>
                    <a:srgbClr val="433B6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任意多边形: 形状 26">
                    <a:extLst>
                      <a:ext uri="{FF2B5EF4-FFF2-40B4-BE49-F238E27FC236}">
                        <a16:creationId xmlns:a16="http://schemas.microsoft.com/office/drawing/2014/main" id="{88359481-6813-82AA-8EE6-2012C2B0F2E6}"/>
                      </a:ext>
                    </a:extLst>
                  </p:cNvPr>
                  <p:cNvSpPr/>
                  <p:nvPr/>
                </p:nvSpPr>
                <p:spPr>
                  <a:xfrm>
                    <a:off x="5676796" y="3198971"/>
                    <a:ext cx="204414" cy="480733"/>
                  </a:xfrm>
                  <a:custGeom>
                    <a:avLst/>
                    <a:gdLst>
                      <a:gd name="connsiteX0" fmla="*/ 204415 w 204414"/>
                      <a:gd name="connsiteY0" fmla="*/ 103537 h 480733"/>
                      <a:gd name="connsiteX1" fmla="*/ 173173 w 204414"/>
                      <a:gd name="connsiteY1" fmla="*/ 27623 h 480733"/>
                      <a:gd name="connsiteX2" fmla="*/ 172506 w 204414"/>
                      <a:gd name="connsiteY2" fmla="*/ 25908 h 480733"/>
                      <a:gd name="connsiteX3" fmla="*/ 169839 w 204414"/>
                      <a:gd name="connsiteY3" fmla="*/ 190 h 480733"/>
                      <a:gd name="connsiteX4" fmla="*/ 169839 w 204414"/>
                      <a:gd name="connsiteY4" fmla="*/ 0 h 480733"/>
                      <a:gd name="connsiteX5" fmla="*/ 162886 w 204414"/>
                      <a:gd name="connsiteY5" fmla="*/ 15526 h 480733"/>
                      <a:gd name="connsiteX6" fmla="*/ 161933 w 204414"/>
                      <a:gd name="connsiteY6" fmla="*/ 17907 h 480733"/>
                      <a:gd name="connsiteX7" fmla="*/ 31346 w 204414"/>
                      <a:gd name="connsiteY7" fmla="*/ 356902 h 480733"/>
                      <a:gd name="connsiteX8" fmla="*/ 6485 w 204414"/>
                      <a:gd name="connsiteY8" fmla="*/ 421577 h 480733"/>
                      <a:gd name="connsiteX9" fmla="*/ 39156 w 204414"/>
                      <a:gd name="connsiteY9" fmla="*/ 480727 h 480733"/>
                      <a:gd name="connsiteX10" fmla="*/ 195652 w 204414"/>
                      <a:gd name="connsiteY10" fmla="*/ 479298 h 480733"/>
                      <a:gd name="connsiteX11" fmla="*/ 192604 w 204414"/>
                      <a:gd name="connsiteY11" fmla="*/ 143256 h 480733"/>
                      <a:gd name="connsiteX12" fmla="*/ 204320 w 204414"/>
                      <a:gd name="connsiteY12" fmla="*/ 103346 h 4807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04414" h="480733">
                        <a:moveTo>
                          <a:pt x="204415" y="103537"/>
                        </a:moveTo>
                        <a:cubicBezTo>
                          <a:pt x="194985" y="80772"/>
                          <a:pt x="175459" y="33814"/>
                          <a:pt x="173173" y="27623"/>
                        </a:cubicBezTo>
                        <a:cubicBezTo>
                          <a:pt x="172982" y="27051"/>
                          <a:pt x="172792" y="26480"/>
                          <a:pt x="172506" y="25908"/>
                        </a:cubicBezTo>
                        <a:cubicBezTo>
                          <a:pt x="169649" y="18383"/>
                          <a:pt x="165839" y="8096"/>
                          <a:pt x="169839" y="190"/>
                        </a:cubicBezTo>
                        <a:lnTo>
                          <a:pt x="169839" y="0"/>
                        </a:lnTo>
                        <a:cubicBezTo>
                          <a:pt x="167363" y="4381"/>
                          <a:pt x="165267" y="9620"/>
                          <a:pt x="162886" y="15526"/>
                        </a:cubicBezTo>
                        <a:cubicBezTo>
                          <a:pt x="162600" y="16288"/>
                          <a:pt x="162219" y="17145"/>
                          <a:pt x="161933" y="17907"/>
                        </a:cubicBezTo>
                        <a:cubicBezTo>
                          <a:pt x="156123" y="32385"/>
                          <a:pt x="74970" y="243269"/>
                          <a:pt x="31346" y="356902"/>
                        </a:cubicBezTo>
                        <a:cubicBezTo>
                          <a:pt x="19630" y="387286"/>
                          <a:pt x="10676" y="410718"/>
                          <a:pt x="6485" y="421577"/>
                        </a:cubicBezTo>
                        <a:cubicBezTo>
                          <a:pt x="-13327" y="472916"/>
                          <a:pt x="16487" y="481013"/>
                          <a:pt x="39156" y="480727"/>
                        </a:cubicBezTo>
                        <a:lnTo>
                          <a:pt x="195652" y="479298"/>
                        </a:lnTo>
                        <a:lnTo>
                          <a:pt x="192604" y="143256"/>
                        </a:lnTo>
                        <a:lnTo>
                          <a:pt x="204320" y="103346"/>
                        </a:lnTo>
                        <a:close/>
                      </a:path>
                    </a:pathLst>
                  </a:custGeom>
                  <a:solidFill>
                    <a:srgbClr val="ED92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任意多边形: 形状 27">
                    <a:extLst>
                      <a:ext uri="{FF2B5EF4-FFF2-40B4-BE49-F238E27FC236}">
                        <a16:creationId xmlns:a16="http://schemas.microsoft.com/office/drawing/2014/main" id="{E006BA90-FFD2-9C20-71C9-E57F56E62702}"/>
                      </a:ext>
                    </a:extLst>
                  </p:cNvPr>
                  <p:cNvSpPr/>
                  <p:nvPr/>
                </p:nvSpPr>
                <p:spPr>
                  <a:xfrm>
                    <a:off x="5742146" y="3302222"/>
                    <a:ext cx="142970" cy="377285"/>
                  </a:xfrm>
                  <a:custGeom>
                    <a:avLst/>
                    <a:gdLst>
                      <a:gd name="connsiteX0" fmla="*/ 142970 w 142970"/>
                      <a:gd name="connsiteY0" fmla="*/ 376047 h 377285"/>
                      <a:gd name="connsiteX1" fmla="*/ 139637 w 142970"/>
                      <a:gd name="connsiteY1" fmla="*/ 0 h 377285"/>
                      <a:gd name="connsiteX2" fmla="*/ 10192 w 142970"/>
                      <a:gd name="connsiteY2" fmla="*/ 361569 h 377285"/>
                      <a:gd name="connsiteX3" fmla="*/ 0 w 142970"/>
                      <a:gd name="connsiteY3" fmla="*/ 377285 h 377285"/>
                      <a:gd name="connsiteX4" fmla="*/ 142970 w 142970"/>
                      <a:gd name="connsiteY4" fmla="*/ 376047 h 3772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2970" h="377285">
                        <a:moveTo>
                          <a:pt x="142970" y="376047"/>
                        </a:moveTo>
                        <a:lnTo>
                          <a:pt x="139637" y="0"/>
                        </a:lnTo>
                        <a:cubicBezTo>
                          <a:pt x="95536" y="125540"/>
                          <a:pt x="13526" y="352425"/>
                          <a:pt x="10192" y="361569"/>
                        </a:cubicBezTo>
                        <a:cubicBezTo>
                          <a:pt x="6858" y="370713"/>
                          <a:pt x="2000" y="375857"/>
                          <a:pt x="0" y="377285"/>
                        </a:cubicBezTo>
                        <a:lnTo>
                          <a:pt x="142970" y="376047"/>
                        </a:lnTo>
                        <a:close/>
                      </a:path>
                    </a:pathLst>
                  </a:custGeom>
                  <a:solidFill>
                    <a:srgbClr val="FF672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任意多边形: 形状 29">
                    <a:extLst>
                      <a:ext uri="{FF2B5EF4-FFF2-40B4-BE49-F238E27FC236}">
                        <a16:creationId xmlns:a16="http://schemas.microsoft.com/office/drawing/2014/main" id="{460120F7-1FDF-F259-C64D-3FB2731B03EB}"/>
                      </a:ext>
                    </a:extLst>
                  </p:cNvPr>
                  <p:cNvSpPr/>
                  <p:nvPr/>
                </p:nvSpPr>
                <p:spPr>
                  <a:xfrm>
                    <a:off x="6092579" y="3296883"/>
                    <a:ext cx="179926" cy="151554"/>
                  </a:xfrm>
                  <a:custGeom>
                    <a:avLst/>
                    <a:gdLst>
                      <a:gd name="connsiteX0" fmla="*/ 34853 w 179926"/>
                      <a:gd name="connsiteY0" fmla="*/ 576 h 151554"/>
                      <a:gd name="connsiteX1" fmla="*/ 3706 w 179926"/>
                      <a:gd name="connsiteY1" fmla="*/ 45534 h 151554"/>
                      <a:gd name="connsiteX2" fmla="*/ 26661 w 179926"/>
                      <a:gd name="connsiteY2" fmla="*/ 112209 h 151554"/>
                      <a:gd name="connsiteX3" fmla="*/ 84002 w 179926"/>
                      <a:gd name="connsiteY3" fmla="*/ 151547 h 151554"/>
                      <a:gd name="connsiteX4" fmla="*/ 148486 w 179926"/>
                      <a:gd name="connsiteY4" fmla="*/ 150976 h 151554"/>
                      <a:gd name="connsiteX5" fmla="*/ 177156 w 179926"/>
                      <a:gd name="connsiteY5" fmla="*/ 110876 h 151554"/>
                      <a:gd name="connsiteX6" fmla="*/ 148867 w 179926"/>
                      <a:gd name="connsiteY6" fmla="*/ 36866 h 151554"/>
                      <a:gd name="connsiteX7" fmla="*/ 93241 w 179926"/>
                      <a:gd name="connsiteY7" fmla="*/ 5 h 151554"/>
                      <a:gd name="connsiteX8" fmla="*/ 34853 w 179926"/>
                      <a:gd name="connsiteY8" fmla="*/ 481 h 151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9926" h="151554">
                        <a:moveTo>
                          <a:pt x="34853" y="576"/>
                        </a:moveTo>
                        <a:cubicBezTo>
                          <a:pt x="3611" y="862"/>
                          <a:pt x="-6200" y="19055"/>
                          <a:pt x="3706" y="45534"/>
                        </a:cubicBezTo>
                        <a:cubicBezTo>
                          <a:pt x="7230" y="57250"/>
                          <a:pt x="16946" y="86968"/>
                          <a:pt x="26661" y="112209"/>
                        </a:cubicBezTo>
                        <a:cubicBezTo>
                          <a:pt x="38758" y="143832"/>
                          <a:pt x="55808" y="151833"/>
                          <a:pt x="84002" y="151547"/>
                        </a:cubicBezTo>
                        <a:lnTo>
                          <a:pt x="148486" y="150976"/>
                        </a:lnTo>
                        <a:cubicBezTo>
                          <a:pt x="179728" y="150690"/>
                          <a:pt x="183919" y="128687"/>
                          <a:pt x="177156" y="110876"/>
                        </a:cubicBezTo>
                        <a:cubicBezTo>
                          <a:pt x="170298" y="93064"/>
                          <a:pt x="158297" y="60869"/>
                          <a:pt x="148867" y="36866"/>
                        </a:cubicBezTo>
                        <a:cubicBezTo>
                          <a:pt x="139437" y="12863"/>
                          <a:pt x="121435" y="-281"/>
                          <a:pt x="93241" y="5"/>
                        </a:cubicBezTo>
                        <a:lnTo>
                          <a:pt x="34853" y="481"/>
                        </a:lnTo>
                        <a:close/>
                      </a:path>
                    </a:pathLst>
                  </a:custGeom>
                  <a:solidFill>
                    <a:srgbClr val="FF822D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F9C7A34-B491-19A9-9328-56E0E19C3C7F}"/>
                </a:ext>
              </a:extLst>
            </p:cNvPr>
            <p:cNvSpPr txBox="1"/>
            <p:nvPr/>
          </p:nvSpPr>
          <p:spPr>
            <a:xfrm>
              <a:off x="3917241" y="2592459"/>
              <a:ext cx="4415073" cy="1895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CA" altLang="zh-CN" sz="1600" b="1" dirty="0">
                  <a:solidFill>
                    <a:srgbClr val="6088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• The update contained a defect</a:t>
              </a:r>
            </a:p>
            <a:p>
              <a:pPr>
                <a:lnSpc>
                  <a:spcPct val="150000"/>
                </a:lnSpc>
              </a:pPr>
              <a:r>
                <a:rPr lang="en-CA" altLang="zh-CN" sz="1600" b="1" dirty="0">
                  <a:solidFill>
                    <a:srgbClr val="6088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It was deployed globally</a:t>
              </a:r>
            </a:p>
            <a:p>
              <a:pPr>
                <a:lnSpc>
                  <a:spcPct val="150000"/>
                </a:lnSpc>
              </a:pPr>
              <a:r>
                <a:rPr lang="en-CA" altLang="zh-CN" sz="1600" b="1" dirty="0">
                  <a:solidFill>
                    <a:srgbClr val="6088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• Millions of systems received it immediately</a:t>
              </a:r>
            </a:p>
            <a:p>
              <a:pPr>
                <a:lnSpc>
                  <a:spcPct val="150000"/>
                </a:lnSpc>
              </a:pPr>
              <a:r>
                <a:rPr lang="en-CA" altLang="zh-CN" sz="1600" b="1" dirty="0">
                  <a:solidFill>
                    <a:srgbClr val="6088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• Windows computers crashed</a:t>
              </a:r>
              <a:endParaRPr lang="en-US" sz="1600" b="1" dirty="0">
                <a:solidFill>
                  <a:srgbClr val="6088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B1FA54B-ED10-388A-E9B8-D9B5DF558FA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851419" y="4296604"/>
            <a:ext cx="5494085" cy="2674099"/>
            <a:chOff x="3362103" y="2095563"/>
            <a:chExt cx="5494085" cy="2674099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E23D7A82-1770-9FE0-B7E7-B5CC86D35FCE}"/>
                </a:ext>
              </a:extLst>
            </p:cNvPr>
            <p:cNvGrpSpPr/>
            <p:nvPr/>
          </p:nvGrpSpPr>
          <p:grpSpPr>
            <a:xfrm>
              <a:off x="3362103" y="2095563"/>
              <a:ext cx="5494085" cy="2674099"/>
              <a:chOff x="3362103" y="2095563"/>
              <a:chExt cx="5494085" cy="2674099"/>
            </a:xfrm>
          </p:grpSpPr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385D66B5-76AD-5545-0A41-BCCDEE2E2E0F}"/>
                  </a:ext>
                </a:extLst>
              </p:cNvPr>
              <p:cNvGrpSpPr/>
              <p:nvPr/>
            </p:nvGrpSpPr>
            <p:grpSpPr>
              <a:xfrm>
                <a:off x="3362103" y="2095563"/>
                <a:ext cx="5379910" cy="2569464"/>
                <a:chOff x="3405187" y="2143125"/>
                <a:chExt cx="5379910" cy="2569464"/>
              </a:xfrm>
            </p:grpSpPr>
            <p:sp>
              <p:nvSpPr>
                <p:cNvPr id="103" name="图形 6">
                  <a:extLst>
                    <a:ext uri="{FF2B5EF4-FFF2-40B4-BE49-F238E27FC236}">
                      <a16:creationId xmlns:a16="http://schemas.microsoft.com/office/drawing/2014/main" id="{19A94324-6392-83C0-AB06-1D4A300FD027}"/>
                    </a:ext>
                  </a:extLst>
                </p:cNvPr>
                <p:cNvSpPr/>
                <p:nvPr/>
              </p:nvSpPr>
              <p:spPr>
                <a:xfrm>
                  <a:off x="3405187" y="2143125"/>
                  <a:ext cx="5379910" cy="2569464"/>
                </a:xfrm>
                <a:custGeom>
                  <a:avLst/>
                  <a:gdLst>
                    <a:gd name="connsiteX0" fmla="*/ 5112163 w 5379910"/>
                    <a:gd name="connsiteY0" fmla="*/ 0 h 2569464"/>
                    <a:gd name="connsiteX1" fmla="*/ 5379911 w 5379910"/>
                    <a:gd name="connsiteY1" fmla="*/ 267748 h 2569464"/>
                    <a:gd name="connsiteX2" fmla="*/ 5379911 w 5379910"/>
                    <a:gd name="connsiteY2" fmla="*/ 2301716 h 2569464"/>
                    <a:gd name="connsiteX3" fmla="*/ 5112163 w 5379910"/>
                    <a:gd name="connsiteY3" fmla="*/ 2569464 h 2569464"/>
                    <a:gd name="connsiteX4" fmla="*/ 267748 w 5379910"/>
                    <a:gd name="connsiteY4" fmla="*/ 2569464 h 2569464"/>
                    <a:gd name="connsiteX5" fmla="*/ 0 w 5379910"/>
                    <a:gd name="connsiteY5" fmla="*/ 2301716 h 2569464"/>
                    <a:gd name="connsiteX6" fmla="*/ 0 w 5379910"/>
                    <a:gd name="connsiteY6" fmla="*/ 267748 h 2569464"/>
                    <a:gd name="connsiteX7" fmla="*/ 267748 w 5379910"/>
                    <a:gd name="connsiteY7" fmla="*/ 0 h 2569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379910" h="2569464">
                      <a:moveTo>
                        <a:pt x="5112163" y="0"/>
                      </a:moveTo>
                      <a:cubicBezTo>
                        <a:pt x="5260036" y="0"/>
                        <a:pt x="5379911" y="119875"/>
                        <a:pt x="5379911" y="267748"/>
                      </a:cubicBezTo>
                      <a:lnTo>
                        <a:pt x="5379911" y="2301716"/>
                      </a:lnTo>
                      <a:cubicBezTo>
                        <a:pt x="5379911" y="2449589"/>
                        <a:pt x="5260036" y="2569464"/>
                        <a:pt x="5112163" y="2569464"/>
                      </a:cubicBezTo>
                      <a:lnTo>
                        <a:pt x="267748" y="2569464"/>
                      </a:lnTo>
                      <a:cubicBezTo>
                        <a:pt x="119875" y="2569464"/>
                        <a:pt x="0" y="2449589"/>
                        <a:pt x="0" y="2301716"/>
                      </a:cubicBezTo>
                      <a:lnTo>
                        <a:pt x="0" y="267748"/>
                      </a:lnTo>
                      <a:cubicBezTo>
                        <a:pt x="0" y="119875"/>
                        <a:pt x="119875" y="0"/>
                        <a:pt x="267748" y="0"/>
                      </a:cubicBezTo>
                      <a:close/>
                    </a:path>
                  </a:pathLst>
                </a:custGeom>
                <a:solidFill>
                  <a:srgbClr val="9ADFB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" name="图形 8">
                  <a:extLst>
                    <a:ext uri="{FF2B5EF4-FFF2-40B4-BE49-F238E27FC236}">
                      <a16:creationId xmlns:a16="http://schemas.microsoft.com/office/drawing/2014/main" id="{50DA0649-893C-8FB6-888B-E74BCFC7D9D6}"/>
                    </a:ext>
                  </a:extLst>
                </p:cNvPr>
                <p:cNvSpPr/>
                <p:nvPr/>
              </p:nvSpPr>
              <p:spPr>
                <a:xfrm>
                  <a:off x="3577063" y="2357269"/>
                  <a:ext cx="4980622" cy="2155793"/>
                </a:xfrm>
                <a:custGeom>
                  <a:avLst/>
                  <a:gdLst>
                    <a:gd name="connsiteX0" fmla="*/ 4866323 w 4980622"/>
                    <a:gd name="connsiteY0" fmla="*/ 0 h 2155793"/>
                    <a:gd name="connsiteX1" fmla="*/ 4980623 w 4980622"/>
                    <a:gd name="connsiteY1" fmla="*/ 114300 h 2155793"/>
                    <a:gd name="connsiteX2" fmla="*/ 4980623 w 4980622"/>
                    <a:gd name="connsiteY2" fmla="*/ 2041493 h 2155793"/>
                    <a:gd name="connsiteX3" fmla="*/ 4866323 w 4980622"/>
                    <a:gd name="connsiteY3" fmla="*/ 2155793 h 2155793"/>
                    <a:gd name="connsiteX4" fmla="*/ 114300 w 4980622"/>
                    <a:gd name="connsiteY4" fmla="*/ 2155793 h 2155793"/>
                    <a:gd name="connsiteX5" fmla="*/ 0 w 4980622"/>
                    <a:gd name="connsiteY5" fmla="*/ 2041493 h 2155793"/>
                    <a:gd name="connsiteX6" fmla="*/ 0 w 4980622"/>
                    <a:gd name="connsiteY6" fmla="*/ 114300 h 2155793"/>
                    <a:gd name="connsiteX7" fmla="*/ 114300 w 4980622"/>
                    <a:gd name="connsiteY7" fmla="*/ 0 h 21557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980622" h="2155793">
                      <a:moveTo>
                        <a:pt x="4866323" y="0"/>
                      </a:moveTo>
                      <a:cubicBezTo>
                        <a:pt x="4929449" y="0"/>
                        <a:pt x="4980623" y="51174"/>
                        <a:pt x="4980623" y="114300"/>
                      </a:cubicBezTo>
                      <a:lnTo>
                        <a:pt x="4980623" y="2041493"/>
                      </a:lnTo>
                      <a:cubicBezTo>
                        <a:pt x="4980623" y="2104619"/>
                        <a:pt x="4929449" y="2155793"/>
                        <a:pt x="4866323" y="2155793"/>
                      </a:cubicBezTo>
                      <a:lnTo>
                        <a:pt x="114300" y="2155793"/>
                      </a:lnTo>
                      <a:cubicBezTo>
                        <a:pt x="51174" y="2155793"/>
                        <a:pt x="0" y="2104619"/>
                        <a:pt x="0" y="2041493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EDFBD7"/>
                </a:solidFill>
                <a:ln w="28575" cap="flat">
                  <a:solidFill>
                    <a:srgbClr val="608842"/>
                  </a:solidFill>
                  <a:prstDash val="sysDash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BB6D9949-0D51-5E64-4313-9263AE2A74CA}"/>
                  </a:ext>
                </a:extLst>
              </p:cNvPr>
              <p:cNvGrpSpPr/>
              <p:nvPr/>
            </p:nvGrpSpPr>
            <p:grpSpPr>
              <a:xfrm>
                <a:off x="3498244" y="4060484"/>
                <a:ext cx="449827" cy="490015"/>
                <a:chOff x="3525801" y="3960276"/>
                <a:chExt cx="449827" cy="490015"/>
              </a:xfrm>
            </p:grpSpPr>
            <p:pic>
              <p:nvPicPr>
                <p:cNvPr id="99" name="图形 98">
                  <a:extLst>
                    <a:ext uri="{FF2B5EF4-FFF2-40B4-BE49-F238E27FC236}">
                      <a16:creationId xmlns:a16="http://schemas.microsoft.com/office/drawing/2014/main" id="{C9F41C9F-115E-8175-181D-386532F8B6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85103" y="4355041"/>
                  <a:ext cx="390525" cy="95250"/>
                </a:xfrm>
                <a:prstGeom prst="rect">
                  <a:avLst/>
                </a:prstGeom>
              </p:spPr>
            </p:pic>
            <p:grpSp>
              <p:nvGrpSpPr>
                <p:cNvPr id="100" name="组合 99">
                  <a:extLst>
                    <a:ext uri="{FF2B5EF4-FFF2-40B4-BE49-F238E27FC236}">
                      <a16:creationId xmlns:a16="http://schemas.microsoft.com/office/drawing/2014/main" id="{C773C106-E059-6C92-04F1-1198891BC9D6}"/>
                    </a:ext>
                  </a:extLst>
                </p:cNvPr>
                <p:cNvGrpSpPr/>
                <p:nvPr/>
              </p:nvGrpSpPr>
              <p:grpSpPr>
                <a:xfrm>
                  <a:off x="3525801" y="3960276"/>
                  <a:ext cx="361950" cy="444739"/>
                  <a:chOff x="5915025" y="2963123"/>
                  <a:chExt cx="361950" cy="444739"/>
                </a:xfrm>
              </p:grpSpPr>
              <p:pic>
                <p:nvPicPr>
                  <p:cNvPr id="101" name="图形 100">
                    <a:extLst>
                      <a:ext uri="{FF2B5EF4-FFF2-40B4-BE49-F238E27FC236}">
                        <a16:creationId xmlns:a16="http://schemas.microsoft.com/office/drawing/2014/main" id="{BB3D4E94-BB81-2265-17A9-7D2028AB3C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53137" y="3293562"/>
                    <a:ext cx="85725" cy="114300"/>
                  </a:xfrm>
                  <a:prstGeom prst="rect">
                    <a:avLst/>
                  </a:prstGeom>
                </p:spPr>
              </p:pic>
              <p:pic>
                <p:nvPicPr>
                  <p:cNvPr id="102" name="图形 101">
                    <a:extLst>
                      <a:ext uri="{FF2B5EF4-FFF2-40B4-BE49-F238E27FC236}">
                        <a16:creationId xmlns:a16="http://schemas.microsoft.com/office/drawing/2014/main" id="{7EDB72CB-2095-7854-0329-5A70B5082A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15025" y="2963123"/>
                    <a:ext cx="361950" cy="352425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E193CF19-46E7-8191-536E-871C841377C8}"/>
                  </a:ext>
                </a:extLst>
              </p:cNvPr>
              <p:cNvGrpSpPr/>
              <p:nvPr/>
            </p:nvGrpSpPr>
            <p:grpSpPr>
              <a:xfrm>
                <a:off x="7198838" y="3749648"/>
                <a:ext cx="1657350" cy="1020014"/>
                <a:chOff x="7198838" y="3749648"/>
                <a:chExt cx="1657350" cy="1020014"/>
              </a:xfrm>
            </p:grpSpPr>
            <p:pic>
              <p:nvPicPr>
                <p:cNvPr id="86" name="图形 85">
                  <a:extLst>
                    <a:ext uri="{FF2B5EF4-FFF2-40B4-BE49-F238E27FC236}">
                      <a16:creationId xmlns:a16="http://schemas.microsoft.com/office/drawing/2014/main" id="{F8B77862-5844-E778-C993-454A6D2EE4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98838" y="4302937"/>
                  <a:ext cx="1657350" cy="466725"/>
                </a:xfrm>
                <a:prstGeom prst="rect">
                  <a:avLst/>
                </a:prstGeom>
              </p:spPr>
            </p:pic>
            <p:grpSp>
              <p:nvGrpSpPr>
                <p:cNvPr id="87" name="组合 86">
                  <a:extLst>
                    <a:ext uri="{FF2B5EF4-FFF2-40B4-BE49-F238E27FC236}">
                      <a16:creationId xmlns:a16="http://schemas.microsoft.com/office/drawing/2014/main" id="{35AF05B7-2387-AD49-1CA0-FCCBA5589235}"/>
                    </a:ext>
                  </a:extLst>
                </p:cNvPr>
                <p:cNvGrpSpPr/>
                <p:nvPr/>
              </p:nvGrpSpPr>
              <p:grpSpPr>
                <a:xfrm>
                  <a:off x="8242535" y="3749648"/>
                  <a:ext cx="585825" cy="715852"/>
                  <a:chOff x="5915025" y="2963123"/>
                  <a:chExt cx="361950" cy="444739"/>
                </a:xfrm>
              </p:grpSpPr>
              <p:pic>
                <p:nvPicPr>
                  <p:cNvPr id="97" name="图形 96">
                    <a:extLst>
                      <a:ext uri="{FF2B5EF4-FFF2-40B4-BE49-F238E27FC236}">
                        <a16:creationId xmlns:a16="http://schemas.microsoft.com/office/drawing/2014/main" id="{4A555D8B-14D1-D964-3311-A91B07CF6A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53137" y="3293562"/>
                    <a:ext cx="85725" cy="114300"/>
                  </a:xfrm>
                  <a:prstGeom prst="rect">
                    <a:avLst/>
                  </a:prstGeom>
                </p:spPr>
              </p:pic>
              <p:pic>
                <p:nvPicPr>
                  <p:cNvPr id="98" name="图形 97">
                    <a:extLst>
                      <a:ext uri="{FF2B5EF4-FFF2-40B4-BE49-F238E27FC236}">
                        <a16:creationId xmlns:a16="http://schemas.microsoft.com/office/drawing/2014/main" id="{E3893F01-F87B-A35F-51F3-824D09503B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15025" y="2963123"/>
                    <a:ext cx="361950" cy="35242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88" name="组合 87">
                  <a:extLst>
                    <a:ext uri="{FF2B5EF4-FFF2-40B4-BE49-F238E27FC236}">
                      <a16:creationId xmlns:a16="http://schemas.microsoft.com/office/drawing/2014/main" id="{D69EB67A-15EE-1D80-4582-37F9B576351B}"/>
                    </a:ext>
                  </a:extLst>
                </p:cNvPr>
                <p:cNvGrpSpPr/>
                <p:nvPr/>
              </p:nvGrpSpPr>
              <p:grpSpPr>
                <a:xfrm>
                  <a:off x="7441812" y="3994057"/>
                  <a:ext cx="355957" cy="228706"/>
                  <a:chOff x="5644460" y="2812278"/>
                  <a:chExt cx="355957" cy="228706"/>
                </a:xfrm>
              </p:grpSpPr>
              <p:sp>
                <p:nvSpPr>
                  <p:cNvPr id="95" name="任意多边形: 形状 94">
                    <a:extLst>
                      <a:ext uri="{FF2B5EF4-FFF2-40B4-BE49-F238E27FC236}">
                        <a16:creationId xmlns:a16="http://schemas.microsoft.com/office/drawing/2014/main" id="{FD59599B-E38C-96E2-BA8C-DE6445AACCA3}"/>
                      </a:ext>
                    </a:extLst>
                  </p:cNvPr>
                  <p:cNvSpPr/>
                  <p:nvPr/>
                </p:nvSpPr>
                <p:spPr>
                  <a:xfrm>
                    <a:off x="5700145" y="2818750"/>
                    <a:ext cx="99821" cy="99822"/>
                  </a:xfrm>
                  <a:custGeom>
                    <a:avLst/>
                    <a:gdLst>
                      <a:gd name="connsiteX0" fmla="*/ 99822 w 99821"/>
                      <a:gd name="connsiteY0" fmla="*/ 49911 h 99822"/>
                      <a:gd name="connsiteX1" fmla="*/ 49911 w 99821"/>
                      <a:gd name="connsiteY1" fmla="*/ 99822 h 99822"/>
                      <a:gd name="connsiteX2" fmla="*/ 0 w 99821"/>
                      <a:gd name="connsiteY2" fmla="*/ 49911 h 99822"/>
                      <a:gd name="connsiteX3" fmla="*/ 49911 w 99821"/>
                      <a:gd name="connsiteY3" fmla="*/ 0 h 99822"/>
                      <a:gd name="connsiteX4" fmla="*/ 99822 w 99821"/>
                      <a:gd name="connsiteY4" fmla="*/ 49911 h 998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9821" h="99822">
                        <a:moveTo>
                          <a:pt x="99822" y="49911"/>
                        </a:moveTo>
                        <a:cubicBezTo>
                          <a:pt x="99822" y="77476"/>
                          <a:pt x="77476" y="99822"/>
                          <a:pt x="49911" y="99822"/>
                        </a:cubicBezTo>
                        <a:cubicBezTo>
                          <a:pt x="22346" y="99822"/>
                          <a:pt x="0" y="77476"/>
                          <a:pt x="0" y="49911"/>
                        </a:cubicBezTo>
                        <a:cubicBezTo>
                          <a:pt x="0" y="22346"/>
                          <a:pt x="22346" y="0"/>
                          <a:pt x="49911" y="0"/>
                        </a:cubicBezTo>
                        <a:cubicBezTo>
                          <a:pt x="77476" y="0"/>
                          <a:pt x="99822" y="22346"/>
                          <a:pt x="99822" y="49911"/>
                        </a:cubicBezTo>
                        <a:close/>
                      </a:path>
                    </a:pathLst>
                  </a:custGeom>
                  <a:solidFill>
                    <a:srgbClr val="D3D3D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6" name="任意多边形: 形状 95">
                    <a:extLst>
                      <a:ext uri="{FF2B5EF4-FFF2-40B4-BE49-F238E27FC236}">
                        <a16:creationId xmlns:a16="http://schemas.microsoft.com/office/drawing/2014/main" id="{61724FC8-9E99-3432-876A-16A849A3C8EE}"/>
                      </a:ext>
                    </a:extLst>
                  </p:cNvPr>
                  <p:cNvSpPr/>
                  <p:nvPr/>
                </p:nvSpPr>
                <p:spPr>
                  <a:xfrm>
                    <a:off x="5644460" y="2812278"/>
                    <a:ext cx="355957" cy="228706"/>
                  </a:xfrm>
                  <a:custGeom>
                    <a:avLst/>
                    <a:gdLst>
                      <a:gd name="connsiteX0" fmla="*/ 145355 w 355957"/>
                      <a:gd name="connsiteY0" fmla="*/ 54392 h 228706"/>
                      <a:gd name="connsiteX1" fmla="*/ 110683 w 355957"/>
                      <a:gd name="connsiteY1" fmla="*/ 69918 h 228706"/>
                      <a:gd name="connsiteX2" fmla="*/ 77632 w 355957"/>
                      <a:gd name="connsiteY2" fmla="*/ 64393 h 228706"/>
                      <a:gd name="connsiteX3" fmla="*/ 3 w 355957"/>
                      <a:gd name="connsiteY3" fmla="*/ 148594 h 228706"/>
                      <a:gd name="connsiteX4" fmla="*/ 97158 w 355957"/>
                      <a:gd name="connsiteY4" fmla="*/ 228699 h 228706"/>
                      <a:gd name="connsiteX5" fmla="*/ 249653 w 355957"/>
                      <a:gd name="connsiteY5" fmla="*/ 227366 h 228706"/>
                      <a:gd name="connsiteX6" fmla="*/ 355952 w 355957"/>
                      <a:gd name="connsiteY6" fmla="*/ 107637 h 228706"/>
                      <a:gd name="connsiteX7" fmla="*/ 239747 w 355957"/>
                      <a:gd name="connsiteY7" fmla="*/ 4 h 228706"/>
                      <a:gd name="connsiteX8" fmla="*/ 145355 w 355957"/>
                      <a:gd name="connsiteY8" fmla="*/ 54392 h 2287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55957" h="228706">
                        <a:moveTo>
                          <a:pt x="145355" y="54392"/>
                        </a:moveTo>
                        <a:cubicBezTo>
                          <a:pt x="133067" y="74299"/>
                          <a:pt x="125257" y="75347"/>
                          <a:pt x="110683" y="69918"/>
                        </a:cubicBezTo>
                        <a:cubicBezTo>
                          <a:pt x="102778" y="68013"/>
                          <a:pt x="95634" y="64203"/>
                          <a:pt x="77632" y="64393"/>
                        </a:cubicBezTo>
                        <a:cubicBezTo>
                          <a:pt x="35626" y="64774"/>
                          <a:pt x="-378" y="100588"/>
                          <a:pt x="3" y="148594"/>
                        </a:cubicBezTo>
                        <a:cubicBezTo>
                          <a:pt x="479" y="196600"/>
                          <a:pt x="33245" y="229271"/>
                          <a:pt x="97158" y="228699"/>
                        </a:cubicBezTo>
                        <a:lnTo>
                          <a:pt x="249653" y="227366"/>
                        </a:lnTo>
                        <a:cubicBezTo>
                          <a:pt x="312328" y="226794"/>
                          <a:pt x="356524" y="174216"/>
                          <a:pt x="355952" y="107637"/>
                        </a:cubicBezTo>
                        <a:cubicBezTo>
                          <a:pt x="355381" y="41057"/>
                          <a:pt x="293849" y="-472"/>
                          <a:pt x="239747" y="4"/>
                        </a:cubicBezTo>
                        <a:cubicBezTo>
                          <a:pt x="185741" y="480"/>
                          <a:pt x="157547" y="34485"/>
                          <a:pt x="145355" y="54392"/>
                        </a:cubicBezTo>
                        <a:close/>
                      </a:path>
                    </a:pathLst>
                  </a:custGeom>
                  <a:solidFill>
                    <a:srgbClr val="C5E1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9" name="组合 88">
                  <a:extLst>
                    <a:ext uri="{FF2B5EF4-FFF2-40B4-BE49-F238E27FC236}">
                      <a16:creationId xmlns:a16="http://schemas.microsoft.com/office/drawing/2014/main" id="{FCED9ABB-3A15-3644-2748-DB0404984AE1}"/>
                    </a:ext>
                  </a:extLst>
                </p:cNvPr>
                <p:cNvGrpSpPr/>
                <p:nvPr/>
              </p:nvGrpSpPr>
              <p:grpSpPr>
                <a:xfrm>
                  <a:off x="7711302" y="4133588"/>
                  <a:ext cx="803299" cy="475642"/>
                  <a:chOff x="5676796" y="3181350"/>
                  <a:chExt cx="841819" cy="498450"/>
                </a:xfrm>
              </p:grpSpPr>
              <p:sp>
                <p:nvSpPr>
                  <p:cNvPr id="90" name="任意多边形: 形状 89">
                    <a:extLst>
                      <a:ext uri="{FF2B5EF4-FFF2-40B4-BE49-F238E27FC236}">
                        <a16:creationId xmlns:a16="http://schemas.microsoft.com/office/drawing/2014/main" id="{06D0884C-4C81-3C3A-BD02-C79A307D0147}"/>
                      </a:ext>
                    </a:extLst>
                  </p:cNvPr>
                  <p:cNvSpPr/>
                  <p:nvPr/>
                </p:nvSpPr>
                <p:spPr>
                  <a:xfrm>
                    <a:off x="5676891" y="3181350"/>
                    <a:ext cx="841724" cy="498450"/>
                  </a:xfrm>
                  <a:custGeom>
                    <a:avLst/>
                    <a:gdLst>
                      <a:gd name="connsiteX0" fmla="*/ 6485 w 841724"/>
                      <a:gd name="connsiteY0" fmla="*/ 439293 h 498450"/>
                      <a:gd name="connsiteX1" fmla="*/ 39156 w 841724"/>
                      <a:gd name="connsiteY1" fmla="*/ 498443 h 498450"/>
                      <a:gd name="connsiteX2" fmla="*/ 810205 w 841724"/>
                      <a:gd name="connsiteY2" fmla="*/ 491585 h 498450"/>
                      <a:gd name="connsiteX3" fmla="*/ 836113 w 841724"/>
                      <a:gd name="connsiteY3" fmla="*/ 435197 h 498450"/>
                      <a:gd name="connsiteX4" fmla="*/ 660377 w 841724"/>
                      <a:gd name="connsiteY4" fmla="*/ 0 h 498450"/>
                      <a:gd name="connsiteX5" fmla="*/ 192318 w 841724"/>
                      <a:gd name="connsiteY5" fmla="*/ 4191 h 498450"/>
                      <a:gd name="connsiteX6" fmla="*/ 161933 w 841724"/>
                      <a:gd name="connsiteY6" fmla="*/ 35624 h 498450"/>
                      <a:gd name="connsiteX7" fmla="*/ 6485 w 841724"/>
                      <a:gd name="connsiteY7" fmla="*/ 439293 h 4984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41724" h="498450">
                        <a:moveTo>
                          <a:pt x="6485" y="439293"/>
                        </a:moveTo>
                        <a:cubicBezTo>
                          <a:pt x="-13327" y="490633"/>
                          <a:pt x="16487" y="498729"/>
                          <a:pt x="39156" y="498443"/>
                        </a:cubicBezTo>
                        <a:lnTo>
                          <a:pt x="810205" y="491585"/>
                        </a:lnTo>
                        <a:cubicBezTo>
                          <a:pt x="837827" y="491300"/>
                          <a:pt x="849638" y="468821"/>
                          <a:pt x="836113" y="435197"/>
                        </a:cubicBezTo>
                        <a:cubicBezTo>
                          <a:pt x="828874" y="417100"/>
                          <a:pt x="713812" y="137446"/>
                          <a:pt x="660377" y="0"/>
                        </a:cubicBezTo>
                        <a:lnTo>
                          <a:pt x="192318" y="4191"/>
                        </a:lnTo>
                        <a:cubicBezTo>
                          <a:pt x="173649" y="4382"/>
                          <a:pt x="169268" y="17336"/>
                          <a:pt x="161933" y="35624"/>
                        </a:cubicBezTo>
                        <a:cubicBezTo>
                          <a:pt x="154504" y="53912"/>
                          <a:pt x="26202" y="387858"/>
                          <a:pt x="6485" y="439293"/>
                        </a:cubicBezTo>
                        <a:close/>
                      </a:path>
                    </a:pathLst>
                  </a:custGeom>
                  <a:solidFill>
                    <a:srgbClr val="F9C23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1" name="任意多边形: 形状 90">
                    <a:extLst>
                      <a:ext uri="{FF2B5EF4-FFF2-40B4-BE49-F238E27FC236}">
                        <a16:creationId xmlns:a16="http://schemas.microsoft.com/office/drawing/2014/main" id="{0238E2BA-1132-02A8-C483-16B16ADE09DC}"/>
                      </a:ext>
                    </a:extLst>
                  </p:cNvPr>
                  <p:cNvSpPr/>
                  <p:nvPr/>
                </p:nvSpPr>
                <p:spPr>
                  <a:xfrm>
                    <a:off x="5880830" y="3302412"/>
                    <a:ext cx="198882" cy="375856"/>
                  </a:xfrm>
                  <a:custGeom>
                    <a:avLst/>
                    <a:gdLst>
                      <a:gd name="connsiteX0" fmla="*/ 123158 w 198882"/>
                      <a:gd name="connsiteY0" fmla="*/ 297942 h 375856"/>
                      <a:gd name="connsiteX1" fmla="*/ 0 w 198882"/>
                      <a:gd name="connsiteY1" fmla="*/ 0 h 375856"/>
                      <a:gd name="connsiteX2" fmla="*/ 3334 w 198882"/>
                      <a:gd name="connsiteY2" fmla="*/ 375856 h 375856"/>
                      <a:gd name="connsiteX3" fmla="*/ 198882 w 198882"/>
                      <a:gd name="connsiteY3" fmla="*/ 374142 h 375856"/>
                      <a:gd name="connsiteX4" fmla="*/ 123158 w 198882"/>
                      <a:gd name="connsiteY4" fmla="*/ 297847 h 3758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8882" h="375856">
                        <a:moveTo>
                          <a:pt x="123158" y="297942"/>
                        </a:moveTo>
                        <a:cubicBezTo>
                          <a:pt x="105537" y="256223"/>
                          <a:pt x="33719" y="82010"/>
                          <a:pt x="0" y="0"/>
                        </a:cubicBezTo>
                        <a:lnTo>
                          <a:pt x="3334" y="375856"/>
                        </a:lnTo>
                        <a:lnTo>
                          <a:pt x="198882" y="374142"/>
                        </a:lnTo>
                        <a:cubicBezTo>
                          <a:pt x="156401" y="374523"/>
                          <a:pt x="145256" y="349949"/>
                          <a:pt x="123158" y="297847"/>
                        </a:cubicBezTo>
                        <a:close/>
                      </a:path>
                    </a:pathLst>
                  </a:custGeom>
                  <a:solidFill>
                    <a:srgbClr val="433B6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2" name="任意多边形: 形状 91">
                    <a:extLst>
                      <a:ext uri="{FF2B5EF4-FFF2-40B4-BE49-F238E27FC236}">
                        <a16:creationId xmlns:a16="http://schemas.microsoft.com/office/drawing/2014/main" id="{684A29E5-75A2-8032-89E7-10A42AA117D3}"/>
                      </a:ext>
                    </a:extLst>
                  </p:cNvPr>
                  <p:cNvSpPr/>
                  <p:nvPr/>
                </p:nvSpPr>
                <p:spPr>
                  <a:xfrm>
                    <a:off x="5676796" y="3198971"/>
                    <a:ext cx="204414" cy="480733"/>
                  </a:xfrm>
                  <a:custGeom>
                    <a:avLst/>
                    <a:gdLst>
                      <a:gd name="connsiteX0" fmla="*/ 204415 w 204414"/>
                      <a:gd name="connsiteY0" fmla="*/ 103537 h 480733"/>
                      <a:gd name="connsiteX1" fmla="*/ 173173 w 204414"/>
                      <a:gd name="connsiteY1" fmla="*/ 27623 h 480733"/>
                      <a:gd name="connsiteX2" fmla="*/ 172506 w 204414"/>
                      <a:gd name="connsiteY2" fmla="*/ 25908 h 480733"/>
                      <a:gd name="connsiteX3" fmla="*/ 169839 w 204414"/>
                      <a:gd name="connsiteY3" fmla="*/ 190 h 480733"/>
                      <a:gd name="connsiteX4" fmla="*/ 169839 w 204414"/>
                      <a:gd name="connsiteY4" fmla="*/ 0 h 480733"/>
                      <a:gd name="connsiteX5" fmla="*/ 162886 w 204414"/>
                      <a:gd name="connsiteY5" fmla="*/ 15526 h 480733"/>
                      <a:gd name="connsiteX6" fmla="*/ 161933 w 204414"/>
                      <a:gd name="connsiteY6" fmla="*/ 17907 h 480733"/>
                      <a:gd name="connsiteX7" fmla="*/ 31346 w 204414"/>
                      <a:gd name="connsiteY7" fmla="*/ 356902 h 480733"/>
                      <a:gd name="connsiteX8" fmla="*/ 6485 w 204414"/>
                      <a:gd name="connsiteY8" fmla="*/ 421577 h 480733"/>
                      <a:gd name="connsiteX9" fmla="*/ 39156 w 204414"/>
                      <a:gd name="connsiteY9" fmla="*/ 480727 h 480733"/>
                      <a:gd name="connsiteX10" fmla="*/ 195652 w 204414"/>
                      <a:gd name="connsiteY10" fmla="*/ 479298 h 480733"/>
                      <a:gd name="connsiteX11" fmla="*/ 192604 w 204414"/>
                      <a:gd name="connsiteY11" fmla="*/ 143256 h 480733"/>
                      <a:gd name="connsiteX12" fmla="*/ 204320 w 204414"/>
                      <a:gd name="connsiteY12" fmla="*/ 103346 h 4807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04414" h="480733">
                        <a:moveTo>
                          <a:pt x="204415" y="103537"/>
                        </a:moveTo>
                        <a:cubicBezTo>
                          <a:pt x="194985" y="80772"/>
                          <a:pt x="175459" y="33814"/>
                          <a:pt x="173173" y="27623"/>
                        </a:cubicBezTo>
                        <a:cubicBezTo>
                          <a:pt x="172982" y="27051"/>
                          <a:pt x="172792" y="26480"/>
                          <a:pt x="172506" y="25908"/>
                        </a:cubicBezTo>
                        <a:cubicBezTo>
                          <a:pt x="169649" y="18383"/>
                          <a:pt x="165839" y="8096"/>
                          <a:pt x="169839" y="190"/>
                        </a:cubicBezTo>
                        <a:lnTo>
                          <a:pt x="169839" y="0"/>
                        </a:lnTo>
                        <a:cubicBezTo>
                          <a:pt x="167363" y="4381"/>
                          <a:pt x="165267" y="9620"/>
                          <a:pt x="162886" y="15526"/>
                        </a:cubicBezTo>
                        <a:cubicBezTo>
                          <a:pt x="162600" y="16288"/>
                          <a:pt x="162219" y="17145"/>
                          <a:pt x="161933" y="17907"/>
                        </a:cubicBezTo>
                        <a:cubicBezTo>
                          <a:pt x="156123" y="32385"/>
                          <a:pt x="74970" y="243269"/>
                          <a:pt x="31346" y="356902"/>
                        </a:cubicBezTo>
                        <a:cubicBezTo>
                          <a:pt x="19630" y="387286"/>
                          <a:pt x="10676" y="410718"/>
                          <a:pt x="6485" y="421577"/>
                        </a:cubicBezTo>
                        <a:cubicBezTo>
                          <a:pt x="-13327" y="472916"/>
                          <a:pt x="16487" y="481013"/>
                          <a:pt x="39156" y="480727"/>
                        </a:cubicBezTo>
                        <a:lnTo>
                          <a:pt x="195652" y="479298"/>
                        </a:lnTo>
                        <a:lnTo>
                          <a:pt x="192604" y="143256"/>
                        </a:lnTo>
                        <a:lnTo>
                          <a:pt x="204320" y="103346"/>
                        </a:lnTo>
                        <a:close/>
                      </a:path>
                    </a:pathLst>
                  </a:custGeom>
                  <a:solidFill>
                    <a:srgbClr val="ED92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3" name="任意多边形: 形状 92">
                    <a:extLst>
                      <a:ext uri="{FF2B5EF4-FFF2-40B4-BE49-F238E27FC236}">
                        <a16:creationId xmlns:a16="http://schemas.microsoft.com/office/drawing/2014/main" id="{7DCA95B3-52B1-699C-9B96-75847B0CC9B5}"/>
                      </a:ext>
                    </a:extLst>
                  </p:cNvPr>
                  <p:cNvSpPr/>
                  <p:nvPr/>
                </p:nvSpPr>
                <p:spPr>
                  <a:xfrm>
                    <a:off x="5742146" y="3302222"/>
                    <a:ext cx="142970" cy="377285"/>
                  </a:xfrm>
                  <a:custGeom>
                    <a:avLst/>
                    <a:gdLst>
                      <a:gd name="connsiteX0" fmla="*/ 142970 w 142970"/>
                      <a:gd name="connsiteY0" fmla="*/ 376047 h 377285"/>
                      <a:gd name="connsiteX1" fmla="*/ 139637 w 142970"/>
                      <a:gd name="connsiteY1" fmla="*/ 0 h 377285"/>
                      <a:gd name="connsiteX2" fmla="*/ 10192 w 142970"/>
                      <a:gd name="connsiteY2" fmla="*/ 361569 h 377285"/>
                      <a:gd name="connsiteX3" fmla="*/ 0 w 142970"/>
                      <a:gd name="connsiteY3" fmla="*/ 377285 h 377285"/>
                      <a:gd name="connsiteX4" fmla="*/ 142970 w 142970"/>
                      <a:gd name="connsiteY4" fmla="*/ 376047 h 3772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2970" h="377285">
                        <a:moveTo>
                          <a:pt x="142970" y="376047"/>
                        </a:moveTo>
                        <a:lnTo>
                          <a:pt x="139637" y="0"/>
                        </a:lnTo>
                        <a:cubicBezTo>
                          <a:pt x="95536" y="125540"/>
                          <a:pt x="13526" y="352425"/>
                          <a:pt x="10192" y="361569"/>
                        </a:cubicBezTo>
                        <a:cubicBezTo>
                          <a:pt x="6858" y="370713"/>
                          <a:pt x="2000" y="375857"/>
                          <a:pt x="0" y="377285"/>
                        </a:cubicBezTo>
                        <a:lnTo>
                          <a:pt x="142970" y="376047"/>
                        </a:lnTo>
                        <a:close/>
                      </a:path>
                    </a:pathLst>
                  </a:custGeom>
                  <a:solidFill>
                    <a:srgbClr val="FF672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4" name="任意多边形: 形状 93">
                    <a:extLst>
                      <a:ext uri="{FF2B5EF4-FFF2-40B4-BE49-F238E27FC236}">
                        <a16:creationId xmlns:a16="http://schemas.microsoft.com/office/drawing/2014/main" id="{A3638BA8-1A20-D441-0AC7-858E65A74B17}"/>
                      </a:ext>
                    </a:extLst>
                  </p:cNvPr>
                  <p:cNvSpPr/>
                  <p:nvPr/>
                </p:nvSpPr>
                <p:spPr>
                  <a:xfrm>
                    <a:off x="6092579" y="3296883"/>
                    <a:ext cx="179926" cy="151554"/>
                  </a:xfrm>
                  <a:custGeom>
                    <a:avLst/>
                    <a:gdLst>
                      <a:gd name="connsiteX0" fmla="*/ 34853 w 179926"/>
                      <a:gd name="connsiteY0" fmla="*/ 576 h 151554"/>
                      <a:gd name="connsiteX1" fmla="*/ 3706 w 179926"/>
                      <a:gd name="connsiteY1" fmla="*/ 45534 h 151554"/>
                      <a:gd name="connsiteX2" fmla="*/ 26661 w 179926"/>
                      <a:gd name="connsiteY2" fmla="*/ 112209 h 151554"/>
                      <a:gd name="connsiteX3" fmla="*/ 84002 w 179926"/>
                      <a:gd name="connsiteY3" fmla="*/ 151547 h 151554"/>
                      <a:gd name="connsiteX4" fmla="*/ 148486 w 179926"/>
                      <a:gd name="connsiteY4" fmla="*/ 150976 h 151554"/>
                      <a:gd name="connsiteX5" fmla="*/ 177156 w 179926"/>
                      <a:gd name="connsiteY5" fmla="*/ 110876 h 151554"/>
                      <a:gd name="connsiteX6" fmla="*/ 148867 w 179926"/>
                      <a:gd name="connsiteY6" fmla="*/ 36866 h 151554"/>
                      <a:gd name="connsiteX7" fmla="*/ 93241 w 179926"/>
                      <a:gd name="connsiteY7" fmla="*/ 5 h 151554"/>
                      <a:gd name="connsiteX8" fmla="*/ 34853 w 179926"/>
                      <a:gd name="connsiteY8" fmla="*/ 481 h 151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9926" h="151554">
                        <a:moveTo>
                          <a:pt x="34853" y="576"/>
                        </a:moveTo>
                        <a:cubicBezTo>
                          <a:pt x="3611" y="862"/>
                          <a:pt x="-6200" y="19055"/>
                          <a:pt x="3706" y="45534"/>
                        </a:cubicBezTo>
                        <a:cubicBezTo>
                          <a:pt x="7230" y="57250"/>
                          <a:pt x="16946" y="86968"/>
                          <a:pt x="26661" y="112209"/>
                        </a:cubicBezTo>
                        <a:cubicBezTo>
                          <a:pt x="38758" y="143832"/>
                          <a:pt x="55808" y="151833"/>
                          <a:pt x="84002" y="151547"/>
                        </a:cubicBezTo>
                        <a:lnTo>
                          <a:pt x="148486" y="150976"/>
                        </a:lnTo>
                        <a:cubicBezTo>
                          <a:pt x="179728" y="150690"/>
                          <a:pt x="183919" y="128687"/>
                          <a:pt x="177156" y="110876"/>
                        </a:cubicBezTo>
                        <a:cubicBezTo>
                          <a:pt x="170298" y="93064"/>
                          <a:pt x="158297" y="60869"/>
                          <a:pt x="148867" y="36866"/>
                        </a:cubicBezTo>
                        <a:cubicBezTo>
                          <a:pt x="139437" y="12863"/>
                          <a:pt x="121435" y="-281"/>
                          <a:pt x="93241" y="5"/>
                        </a:cubicBezTo>
                        <a:lnTo>
                          <a:pt x="34853" y="481"/>
                        </a:lnTo>
                        <a:close/>
                      </a:path>
                    </a:pathLst>
                  </a:custGeom>
                  <a:solidFill>
                    <a:srgbClr val="FF822D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74C5D441-32D1-A8C2-D7A4-D68A4079AC30}"/>
                </a:ext>
              </a:extLst>
            </p:cNvPr>
            <p:cNvSpPr txBox="1"/>
            <p:nvPr/>
          </p:nvSpPr>
          <p:spPr>
            <a:xfrm>
              <a:off x="3917241" y="2592459"/>
              <a:ext cx="4415073" cy="1526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CA" altLang="zh-CN" sz="1600" b="1" dirty="0">
                  <a:solidFill>
                    <a:srgbClr val="6088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• Test before deployment</a:t>
              </a:r>
            </a:p>
            <a:p>
              <a:pPr>
                <a:lnSpc>
                  <a:spcPct val="150000"/>
                </a:lnSpc>
              </a:pPr>
              <a:r>
                <a:rPr lang="en-CA" altLang="zh-CN" sz="1600" b="1" dirty="0">
                  <a:solidFill>
                    <a:srgbClr val="6088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• Review code changes</a:t>
              </a:r>
            </a:p>
            <a:p>
              <a:pPr>
                <a:lnSpc>
                  <a:spcPct val="150000"/>
                </a:lnSpc>
              </a:pPr>
              <a:r>
                <a:rPr lang="en-CA" altLang="zh-CN" sz="1600" b="1" dirty="0">
                  <a:solidFill>
                    <a:srgbClr val="6088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• Release gradually</a:t>
              </a:r>
            </a:p>
            <a:p>
              <a:pPr>
                <a:lnSpc>
                  <a:spcPct val="150000"/>
                </a:lnSpc>
              </a:pPr>
              <a:r>
                <a:rPr lang="en-CA" altLang="zh-CN" sz="1600" b="1" dirty="0">
                  <a:solidFill>
                    <a:srgbClr val="6088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• Monitor systems after updates</a:t>
              </a:r>
              <a:endParaRPr lang="en-US" sz="1600" b="1" dirty="0">
                <a:solidFill>
                  <a:srgbClr val="6088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10" name="图片 109">
            <a:extLst>
              <a:ext uri="{FF2B5EF4-FFF2-40B4-BE49-F238E27FC236}">
                <a16:creationId xmlns:a16="http://schemas.microsoft.com/office/drawing/2014/main" id="{715632F1-0411-F343-18DB-CE1A6F5D4B4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712" y="4526775"/>
            <a:ext cx="818722" cy="853494"/>
          </a:xfrm>
          <a:prstGeom prst="rect">
            <a:avLst/>
          </a:prstGeom>
        </p:spPr>
      </p:pic>
      <p:pic>
        <p:nvPicPr>
          <p:cNvPr id="112" name="图片 111">
            <a:extLst>
              <a:ext uri="{FF2B5EF4-FFF2-40B4-BE49-F238E27FC236}">
                <a16:creationId xmlns:a16="http://schemas.microsoft.com/office/drawing/2014/main" id="{36C69BD6-47CA-14B6-7D84-8DF3E26798E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91" y="4203908"/>
            <a:ext cx="1221739" cy="122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915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vecto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vecto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OPTEXTBOXGROUP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OPTEXTBOXGROUP" val="tru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174</Words>
  <Application>Microsoft Office PowerPoint</Application>
  <PresentationFormat>宽屏</PresentationFormat>
  <Paragraphs>46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• CrowdStrike released a software update  • The update contained an error  • Millions of Windows computers crashed  • Many systems showed the Blue Screen of Death (BSOD)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Haowen Peng</dc:creator>
  <cp:lastModifiedBy>Haowen Peng</cp:lastModifiedBy>
  <cp:revision>6</cp:revision>
  <dcterms:created xsi:type="dcterms:W3CDTF">2026-06-13T00:07:44Z</dcterms:created>
  <dcterms:modified xsi:type="dcterms:W3CDTF">2026-06-13T00:46:24Z</dcterms:modified>
</cp:coreProperties>
</file>